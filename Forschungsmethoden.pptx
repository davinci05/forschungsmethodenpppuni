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330" r:id="rId2"/>
    <p:sldId id="607" r:id="rId3"/>
    <p:sldId id="622" r:id="rId4"/>
    <p:sldId id="682" r:id="rId5"/>
    <p:sldId id="617" r:id="rId6"/>
    <p:sldId id="662" r:id="rId7"/>
    <p:sldId id="680" r:id="rId8"/>
    <p:sldId id="687" r:id="rId9"/>
    <p:sldId id="683" r:id="rId10"/>
    <p:sldId id="684" r:id="rId11"/>
    <p:sldId id="685" r:id="rId12"/>
    <p:sldId id="686" r:id="rId13"/>
    <p:sldId id="688" r:id="rId14"/>
    <p:sldId id="689" r:id="rId15"/>
    <p:sldId id="690" r:id="rId16"/>
    <p:sldId id="691" r:id="rId17"/>
    <p:sldId id="655" r:id="rId18"/>
  </p:sldIdLst>
  <p:sldSz cx="9144000" cy="6858000" type="screen4x3"/>
  <p:notesSz cx="6797675" cy="9926638"/>
  <p:custDataLst>
    <p:tags r:id="rId21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orient="horz" pos="77">
          <p15:clr>
            <a:srgbClr val="A4A3A4"/>
          </p15:clr>
        </p15:guide>
        <p15:guide id="3" orient="horz" pos="4057">
          <p15:clr>
            <a:srgbClr val="A4A3A4"/>
          </p15:clr>
        </p15:guide>
        <p15:guide id="4" orient="horz" pos="2319" userDrawn="1">
          <p15:clr>
            <a:srgbClr val="A4A3A4"/>
          </p15:clr>
        </p15:guide>
        <p15:guide id="5" orient="horz" pos="4269" userDrawn="1">
          <p15:clr>
            <a:srgbClr val="A4A3A4"/>
          </p15:clr>
        </p15:guide>
        <p15:guide id="6" pos="5216" userDrawn="1">
          <p15:clr>
            <a:srgbClr val="A4A3A4"/>
          </p15:clr>
        </p15:guide>
        <p15:guide id="7" pos="2659">
          <p15:clr>
            <a:srgbClr val="A4A3A4"/>
          </p15:clr>
        </p15:guide>
        <p15:guide id="8" pos="5683">
          <p15:clr>
            <a:srgbClr val="A4A3A4"/>
          </p15:clr>
        </p15:guide>
        <p15:guide id="9" pos="9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8B"/>
    <a:srgbClr val="8FB63E"/>
    <a:srgbClr val="007368"/>
    <a:srgbClr val="CBDEDA"/>
    <a:srgbClr val="FF6600"/>
    <a:srgbClr val="D04931"/>
    <a:srgbClr val="679E9B"/>
    <a:srgbClr val="6B1B4B"/>
    <a:srgbClr val="007C91"/>
    <a:srgbClr val="00B3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571" autoAdjust="0"/>
  </p:normalViewPr>
  <p:slideViewPr>
    <p:cSldViewPr snapToGrid="0">
      <p:cViewPr varScale="1">
        <p:scale>
          <a:sx n="87" d="100"/>
          <a:sy n="87" d="100"/>
        </p:scale>
        <p:origin x="2304" y="78"/>
      </p:cViewPr>
      <p:guideLst>
        <p:guide orient="horz" pos="618"/>
        <p:guide orient="horz" pos="77"/>
        <p:guide orient="horz" pos="4057"/>
        <p:guide orient="horz" pos="2319"/>
        <p:guide orient="horz" pos="4269"/>
        <p:guide pos="5216"/>
        <p:guide pos="2659"/>
        <p:guide pos="5683"/>
        <p:guide pos="9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4958" cy="496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2717" y="1"/>
            <a:ext cx="2944958" cy="496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6A667905-F2DF-49CE-907C-1EF165902A26}" type="datetime1">
              <a:rPr lang="de-DE" smtClean="0"/>
              <a:t>12.01.2026</a:t>
            </a:fld>
            <a:endParaRPr lang="de-DE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1" y="9430630"/>
            <a:ext cx="2944958" cy="496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2717" y="9430630"/>
            <a:ext cx="2944958" cy="496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5C7157A5-FB16-48B7-B216-6660B3138BE2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6848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1"/>
            <a:ext cx="2944958" cy="496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2717" y="1"/>
            <a:ext cx="2944958" cy="496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4538"/>
            <a:ext cx="4964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142" y="4714507"/>
            <a:ext cx="4985393" cy="44673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Klicken Sie, um die Formate des Vorlagentextes zu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9430630"/>
            <a:ext cx="2944958" cy="496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2717" y="9430630"/>
            <a:ext cx="2944958" cy="496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03" tIns="46551" rIns="93103" bIns="46551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BCB6D199-8F06-4346-AE65-F23F023EED68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5118300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D4FB0DA8-9745-4162-84A5-E1D27B50B65B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962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1870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F8382-C7FF-35CB-287F-E244C5C50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34F8E38-4E6D-E085-571D-8FDE79B2C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C35DA6B-FB48-B3F0-331C-9A43C4838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31BF00-DB69-5875-D8E6-E260280B8FE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01599F-D07F-F8D9-C7A3-78807DF23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7133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747A5-19BA-94E0-5C5B-7B1FC488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B19FD50-6518-F235-E44F-C8AA9A885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33B8AD-F4AE-2BA8-11CE-B0300DD9E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46B595-C77B-E0A5-34E3-9B7B8B093A9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CC0CBB-CE20-8AD4-C75C-BDA4F3B74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347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60B0-EEBD-8EAE-BFE4-2567DCBB4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C1B6B5F-2B9A-1318-A96B-4B9806312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9E647E2-7D3B-5553-9858-3340A35C4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0E70C7-3EC1-93CB-08A2-022C2306D3B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B9A2EF-932C-B59A-47A1-3839093616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33535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50A4-0691-599E-29DF-022937BC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02EE9FB-D561-976F-CA58-E3DB17AB5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ABA6EFA-9B71-FB9B-078B-7D89F842F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i="1" dirty="0"/>
              <a:t>„Nachdem wir bei Forschungsfrage 1 den kurzfristigen Lerneffekt betrachtet haben,</a:t>
            </a:r>
            <a:br>
              <a:rPr lang="de-DE" i="1" dirty="0"/>
            </a:br>
            <a:r>
              <a:rPr lang="de-DE" i="1" dirty="0"/>
              <a:t>geht es bei Forschungsfrage 2 um die zentrale Frage der Nachhaltigkeit.“</a:t>
            </a:r>
            <a:endParaRPr lang="de-DE" dirty="0"/>
          </a:p>
          <a:p>
            <a:r>
              <a:rPr lang="de-DE" i="1" dirty="0"/>
              <a:t>„Methodisch handelt es sich um eine Longitudinalstudie, also eine Untersuchung mit wiederholten Messungen über einen längeren Zeitraum.“</a:t>
            </a:r>
            <a:endParaRPr lang="de-DE" dirty="0"/>
          </a:p>
          <a:p>
            <a:r>
              <a:rPr lang="de-DE" i="1" dirty="0"/>
              <a:t>„Die gleichen Probanden aus Forschungsfrage 1 nehmen auch am Post-Test 2 teil, der nach etwa vier bis sechs Wochen durchgeführt wird.“</a:t>
            </a:r>
            <a:endParaRPr lang="de-DE" dirty="0"/>
          </a:p>
          <a:p>
            <a:r>
              <a:rPr lang="de-DE" i="1" dirty="0"/>
              <a:t>„Zwischen Post-Test 1 und Post-Test 2 findet bewusst keine weitere Schulung statt,</a:t>
            </a:r>
            <a:br>
              <a:rPr lang="de-DE" i="1" dirty="0"/>
            </a:br>
            <a:r>
              <a:rPr lang="de-DE" i="1" dirty="0"/>
              <a:t>damit wir messen können, wie stabil das Gelernte tatsächlich ist.“</a:t>
            </a:r>
            <a:endParaRPr lang="de-DE" dirty="0"/>
          </a:p>
          <a:p>
            <a:r>
              <a:rPr lang="de-DE" i="1" dirty="0"/>
              <a:t>„Dieses Vorgehen ist wichtig, da kurzfristige Lernerfolge nicht automatisch bedeuten, dass Wissen langfristig erhalten bleibt.“</a:t>
            </a:r>
            <a:endParaRPr lang="de-DE" dirty="0"/>
          </a:p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1EF79-882D-6F06-130E-AABCBDF7B6C6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512B50-89AE-A442-2B44-A93973FF4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4120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6EDA9-F1D4-62A7-4FA7-CBD37668F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38A14B-D951-C6CC-ABFC-9C2BF04B36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10360CE-347C-F716-C01B-A55B10DDC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i="1" dirty="0"/>
              <a:t>„Für den Post-Test 2 wird ein neues Set simulierter Phishing-Mails verwendet,</a:t>
            </a:r>
            <a:br>
              <a:rPr lang="de-DE" i="1" dirty="0"/>
            </a:br>
            <a:r>
              <a:rPr lang="de-DE" i="1" dirty="0"/>
              <a:t>um reine Erinnerungseffekte auszuschließen.“</a:t>
            </a:r>
            <a:endParaRPr lang="de-DE" dirty="0"/>
          </a:p>
          <a:p>
            <a:r>
              <a:rPr lang="de-DE" i="1" dirty="0"/>
              <a:t>„Erhoben werden erneut die Erkennungsrate von Phishing-Mails sowie die Klickrate auf verdächtige Links.“</a:t>
            </a:r>
            <a:endParaRPr lang="de-DE" dirty="0"/>
          </a:p>
          <a:p>
            <a:r>
              <a:rPr lang="de-DE" i="1" dirty="0"/>
              <a:t>„Optional kann zusätzlich die subjektive Selbstwirksamkeit erfasst werden,</a:t>
            </a:r>
            <a:br>
              <a:rPr lang="de-DE" i="1" dirty="0"/>
            </a:br>
            <a:r>
              <a:rPr lang="de-DE" i="1" dirty="0"/>
              <a:t>also wie sicher sich die Teilnehmenden beim Erkennen von Phishing fühlen.“</a:t>
            </a:r>
            <a:endParaRPr lang="de-DE" dirty="0"/>
          </a:p>
          <a:p>
            <a:r>
              <a:rPr lang="de-DE" i="1" dirty="0"/>
              <a:t>„Die statistische Auswertung erfolgt mithilfe einer Messwiederholungs-ANOVA,</a:t>
            </a:r>
            <a:br>
              <a:rPr lang="de-DE" i="1" dirty="0"/>
            </a:br>
            <a:r>
              <a:rPr lang="de-DE" i="1" dirty="0"/>
              <a:t>die sowohl die Veränderung über die Zeit als auch Unterschiede zwischen den Lehrmethoden berücksichtigt.“</a:t>
            </a:r>
            <a:endParaRPr lang="de-DE" dirty="0"/>
          </a:p>
          <a:p>
            <a:r>
              <a:rPr lang="de-DE" i="1" dirty="0"/>
              <a:t>„Ziel ist es zu analysieren, ob die interaktive Lehrmethode langfristig stabilere Lerneffekte erzielt.“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2B65CDA-AFC7-9E65-5DE4-5F180BA36FAE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CE92D-5735-FBCC-D58D-C274737F1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189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360C-376D-7C12-294C-B8942B353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10BC536-5FEA-04CA-36BC-BED3B42E3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F84897-C1FC-8597-84B4-0A8166195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i="1" dirty="0"/>
              <a:t>„Zusammenfassend untersucht das Projekt nicht nur, ob Lernen stattfindet,</a:t>
            </a:r>
            <a:br>
              <a:rPr lang="de-DE" i="1" dirty="0"/>
            </a:br>
            <a:r>
              <a:rPr lang="de-DE" i="1" dirty="0"/>
              <a:t>sondern ob dieses Lernen auch langfristig wirksam bleibt.“</a:t>
            </a:r>
            <a:endParaRPr lang="de-DE" dirty="0"/>
          </a:p>
          <a:p>
            <a:r>
              <a:rPr lang="de-DE" i="1" dirty="0"/>
              <a:t>„Es wird erwartet, dass interaktive, simulationsbasierte Lehrmethoden</a:t>
            </a:r>
            <a:br>
              <a:rPr lang="de-DE" i="1" dirty="0"/>
            </a:br>
            <a:r>
              <a:rPr lang="de-DE" i="1" dirty="0"/>
              <a:t>zu stabileren Lerneffekten führen als rein informationsbasierte Schulungen.“</a:t>
            </a:r>
            <a:endParaRPr lang="de-DE" dirty="0"/>
          </a:p>
          <a:p>
            <a:r>
              <a:rPr lang="de-DE" i="1" dirty="0"/>
              <a:t>„Praktisch lassen sich daraus Empfehlungen für Unternehmen und Bildungseinrichtungen ableiten,</a:t>
            </a:r>
            <a:br>
              <a:rPr lang="de-DE" i="1" dirty="0"/>
            </a:br>
            <a:r>
              <a:rPr lang="de-DE" i="1" dirty="0"/>
              <a:t>etwa zur Gestaltung nachhaltiger Awareness-Schulungen.“</a:t>
            </a:r>
            <a:endParaRPr lang="de-DE" dirty="0"/>
          </a:p>
          <a:p>
            <a:r>
              <a:rPr lang="de-DE" i="1" dirty="0"/>
              <a:t>„Gleichzeitig gibt es methodische Grenzen,</a:t>
            </a:r>
            <a:br>
              <a:rPr lang="de-DE" i="1" dirty="0"/>
            </a:br>
            <a:r>
              <a:rPr lang="de-DE" i="1" dirty="0"/>
              <a:t>beispielsweise die eingeschränkte Generalisierbarkeit durch die Stichprobe</a:t>
            </a:r>
            <a:br>
              <a:rPr lang="de-DE" i="1" dirty="0"/>
            </a:br>
            <a:r>
              <a:rPr lang="de-DE" i="1" dirty="0"/>
              <a:t>oder die künstliche Situation durch simulierte Phishing-Mails.“</a:t>
            </a:r>
            <a:endParaRPr lang="de-DE" dirty="0"/>
          </a:p>
          <a:p>
            <a:r>
              <a:rPr lang="de-DE" i="1" dirty="0"/>
              <a:t>„Diese Aspekte sollten bei einer späteren realen Umsetzung kritisch reflektiert werden.“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B03558-ED5E-07C6-D04F-AB434396CAF1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5DB1547-7EF8-48A8-8B3E-D12C3CE57FC8}" type="datetime1">
              <a:rPr lang="de-DE" smtClean="0"/>
              <a:t>12.01.2026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206FEA-28AE-6530-7991-54F60BE70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CB6D199-8F06-4346-AE65-F23F023EED68}" type="slidenum">
              <a:rPr lang="de-DE" smtClean="0"/>
              <a:pPr>
                <a:defRPr/>
              </a:pPr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282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T:\Projektorganisation\Allgemein\Vorlagen\Logos\Initiale\FOM_Initial_2012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313" y="92075"/>
            <a:ext cx="744537" cy="74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9144000" cy="6858000"/>
          </a:xfrm>
          <a:prstGeom prst="rect">
            <a:avLst/>
          </a:prstGeom>
        </p:spPr>
      </p:pic>
      <p:sp>
        <p:nvSpPr>
          <p:cNvPr id="11" name="Inhaltsplatzhalter 10"/>
          <p:cNvSpPr>
            <a:spLocks noGrp="1"/>
          </p:cNvSpPr>
          <p:nvPr>
            <p:ph sz="quarter" idx="13" hasCustomPrompt="1"/>
          </p:nvPr>
        </p:nvSpPr>
        <p:spPr>
          <a:xfrm>
            <a:off x="396851" y="3863556"/>
            <a:ext cx="8022566" cy="1354301"/>
          </a:xfrm>
        </p:spPr>
        <p:txBody>
          <a:bodyPr rIns="108000" anchor="b">
            <a:noAutofit/>
          </a:bodyPr>
          <a:lstStyle>
            <a:lvl1pPr algn="r">
              <a:buFontTx/>
              <a:buNone/>
              <a:defRPr sz="3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Modulname/Veranstaltung</a:t>
            </a:r>
          </a:p>
        </p:txBody>
      </p:sp>
      <p:sp>
        <p:nvSpPr>
          <p:cNvPr id="17" name="Inhaltsplatzhalter 10"/>
          <p:cNvSpPr>
            <a:spLocks noGrp="1"/>
          </p:cNvSpPr>
          <p:nvPr>
            <p:ph sz="quarter" idx="14" hasCustomPrompt="1"/>
          </p:nvPr>
        </p:nvSpPr>
        <p:spPr>
          <a:xfrm>
            <a:off x="396851" y="5750928"/>
            <a:ext cx="8022566" cy="361920"/>
          </a:xfrm>
        </p:spPr>
        <p:txBody>
          <a:bodyPr rIns="108000">
            <a:noAutofit/>
          </a:bodyPr>
          <a:lstStyle>
            <a:lvl1pPr algn="r">
              <a:buFontTx/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Vortragende/r</a:t>
            </a:r>
          </a:p>
        </p:txBody>
      </p:sp>
      <p:sp>
        <p:nvSpPr>
          <p:cNvPr id="18" name="Inhaltsplatzhalter 10"/>
          <p:cNvSpPr>
            <a:spLocks noGrp="1"/>
          </p:cNvSpPr>
          <p:nvPr>
            <p:ph sz="quarter" idx="15" hasCustomPrompt="1"/>
          </p:nvPr>
        </p:nvSpPr>
        <p:spPr>
          <a:xfrm>
            <a:off x="396851" y="5218247"/>
            <a:ext cx="8022566" cy="361920"/>
          </a:xfrm>
        </p:spPr>
        <p:txBody>
          <a:bodyPr rIns="108000">
            <a:noAutofit/>
          </a:bodyPr>
          <a:lstStyle>
            <a:lvl1pPr algn="r">
              <a:buFontTx/>
              <a:buNone/>
              <a:defRPr sz="1800" b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de-DE"/>
              <a:t>ggfs. Untertitel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1126" y="129944"/>
            <a:ext cx="706038" cy="70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0636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1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1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/>
          </a:p>
        </p:txBody>
      </p:sp>
      <p:sp>
        <p:nvSpPr>
          <p:cNvPr id="12" name="Inhaltsplatzhalter 2"/>
          <p:cNvSpPr>
            <a:spLocks noGrp="1"/>
          </p:cNvSpPr>
          <p:nvPr>
            <p:ph idx="1" hasCustomPrompt="1"/>
          </p:nvPr>
        </p:nvSpPr>
        <p:spPr>
          <a:xfrm>
            <a:off x="25451" y="971550"/>
            <a:ext cx="8315181" cy="5377492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20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21756" y="173038"/>
            <a:ext cx="7936302" cy="356288"/>
          </a:xfrm>
          <a:prstGeom prst="rect">
            <a:avLst/>
          </a:prstGeom>
        </p:spPr>
        <p:txBody>
          <a:bodyPr anchor="b"/>
          <a:lstStyle>
            <a:lvl1pPr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/>
              <a:t>Abschnittsbereich/ Oberthema (optional)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440036"/>
            <a:ext cx="7950708" cy="360064"/>
          </a:xfrm>
        </p:spPr>
        <p:txBody>
          <a:bodyPr anchor="t"/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Folientitel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1587258" y="3683480"/>
            <a:ext cx="6786652" cy="1250830"/>
          </a:xfrm>
        </p:spPr>
        <p:txBody>
          <a:bodyPr anchor="b"/>
          <a:lstStyle>
            <a:lvl1pPr algn="r">
              <a:buClr>
                <a:srgbClr val="23A092"/>
              </a:buClr>
              <a:buFont typeface="Wingdings" pitchFamily="2" charset="2"/>
              <a:buNone/>
              <a:defRPr sz="2400" b="1">
                <a:solidFill>
                  <a:schemeClr val="accent1"/>
                </a:solidFill>
              </a:defRPr>
            </a:lvl1pPr>
            <a:lvl2pPr marL="631825" indent="-285750"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rgbClr val="23A092"/>
                </a:solidFill>
              </a:defRPr>
            </a:lvl2pPr>
            <a:lvl3pPr marL="900113" indent="-269875">
              <a:buClr>
                <a:srgbClr val="23A092"/>
              </a:buClr>
              <a:buSzPct val="70000"/>
              <a:buFont typeface="Wingdings" pitchFamily="2" charset="2"/>
              <a:buNone/>
              <a:defRPr sz="1600">
                <a:solidFill>
                  <a:srgbClr val="1C1C1C"/>
                </a:solidFill>
              </a:defRPr>
            </a:lvl3pPr>
            <a:lvl4pPr marL="1165225" indent="-268288">
              <a:buClr>
                <a:srgbClr val="23A092"/>
              </a:buClr>
              <a:buSzPct val="60000"/>
              <a:buFont typeface="Wingdings" pitchFamily="2" charset="2"/>
              <a:buNone/>
              <a:defRPr sz="1500">
                <a:solidFill>
                  <a:srgbClr val="23A092"/>
                </a:solidFill>
              </a:defRPr>
            </a:lvl4pPr>
            <a:lvl5pPr marL="1527175" indent="-268288">
              <a:buClr>
                <a:srgbClr val="23A092"/>
              </a:buClr>
              <a:buSzPct val="50000"/>
              <a:buFont typeface="Wingdings" pitchFamily="2" charset="2"/>
              <a:buNone/>
              <a:defRPr sz="1500">
                <a:solidFill>
                  <a:srgbClr val="1C1C1C"/>
                </a:solidFill>
              </a:defRPr>
            </a:lvl5pPr>
          </a:lstStyle>
          <a:p>
            <a:pPr lvl="0"/>
            <a:r>
              <a:rPr lang="de-DE"/>
              <a:t>Zwischenüberschrift</a:t>
            </a:r>
          </a:p>
        </p:txBody>
      </p:sp>
      <p:sp>
        <p:nvSpPr>
          <p:cNvPr id="6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1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1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75604924-F6DC-436B-AB44-DC14DB524517}" type="datetime1">
              <a:rPr lang="de-DE" smtClean="0"/>
              <a:t>12.01.2026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: 2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 Verbindung 9"/>
          <p:cNvCxnSpPr/>
          <p:nvPr userDrawn="1"/>
        </p:nvCxnSpPr>
        <p:spPr>
          <a:xfrm>
            <a:off x="4202884" y="906011"/>
            <a:ext cx="0" cy="558000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13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15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8CC01F75-5C8C-436A-AA02-0EF0DC6211AE}" type="datetime1">
              <a:rPr lang="de-DE" smtClean="0"/>
              <a:t>12.01.2026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 hasCustomPrompt="1"/>
          </p:nvPr>
        </p:nvSpPr>
        <p:spPr>
          <a:xfrm>
            <a:off x="21756" y="173038"/>
            <a:ext cx="7936302" cy="356288"/>
          </a:xfrm>
          <a:prstGeom prst="rect">
            <a:avLst/>
          </a:prstGeom>
        </p:spPr>
        <p:txBody>
          <a:bodyPr anchor="b"/>
          <a:lstStyle>
            <a:lvl1pPr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/>
              <a:t>Abschnittsbereich/ Oberthema (optional)</a:t>
            </a:r>
          </a:p>
        </p:txBody>
      </p:sp>
      <p:sp>
        <p:nvSpPr>
          <p:cNvPr id="17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440036"/>
            <a:ext cx="7950708" cy="360064"/>
          </a:xfrm>
        </p:spPr>
        <p:txBody>
          <a:bodyPr anchor="t"/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Folientitel</a:t>
            </a:r>
          </a:p>
        </p:txBody>
      </p:sp>
      <p:sp>
        <p:nvSpPr>
          <p:cNvPr id="20" name="Inhaltsplatzhalter 2"/>
          <p:cNvSpPr>
            <a:spLocks noGrp="1"/>
          </p:cNvSpPr>
          <p:nvPr>
            <p:ph idx="1" hasCustomPrompt="1"/>
          </p:nvPr>
        </p:nvSpPr>
        <p:spPr>
          <a:xfrm>
            <a:off x="25451" y="971550"/>
            <a:ext cx="4177433" cy="5377492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20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  <p:sp>
        <p:nvSpPr>
          <p:cNvPr id="21" name="Inhaltsplatzhalter 2"/>
          <p:cNvSpPr>
            <a:spLocks noGrp="1"/>
          </p:cNvSpPr>
          <p:nvPr>
            <p:ph idx="14" hasCustomPrompt="1"/>
          </p:nvPr>
        </p:nvSpPr>
        <p:spPr>
          <a:xfrm>
            <a:off x="4202884" y="971550"/>
            <a:ext cx="4177433" cy="5377492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20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kal: 2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erade Verbindung 8"/>
          <p:cNvCxnSpPr/>
          <p:nvPr userDrawn="1"/>
        </p:nvCxnSpPr>
        <p:spPr>
          <a:xfrm>
            <a:off x="138113" y="3713948"/>
            <a:ext cx="8159803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11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14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10B6E929-60DB-47AB-8126-AFD6F950AAF6}" type="datetime1">
              <a:rPr lang="de-DE" smtClean="0"/>
              <a:t>12.01.2026</a:t>
            </a:fld>
            <a:endParaRPr lang="de-DE"/>
          </a:p>
        </p:txBody>
      </p:sp>
      <p:sp>
        <p:nvSpPr>
          <p:cNvPr id="17" name="Titel 1"/>
          <p:cNvSpPr>
            <a:spLocks noGrp="1"/>
          </p:cNvSpPr>
          <p:nvPr>
            <p:ph type="title" hasCustomPrompt="1"/>
          </p:nvPr>
        </p:nvSpPr>
        <p:spPr>
          <a:xfrm>
            <a:off x="21756" y="173038"/>
            <a:ext cx="7936302" cy="356288"/>
          </a:xfrm>
          <a:prstGeom prst="rect">
            <a:avLst/>
          </a:prstGeom>
        </p:spPr>
        <p:txBody>
          <a:bodyPr anchor="b"/>
          <a:lstStyle>
            <a:lvl1pPr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/>
              <a:t>Abschnittsbereich/ Oberthema (optional)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440036"/>
            <a:ext cx="7950708" cy="360064"/>
          </a:xfrm>
        </p:spPr>
        <p:txBody>
          <a:bodyPr anchor="t"/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Folientitel</a:t>
            </a:r>
          </a:p>
        </p:txBody>
      </p:sp>
      <p:sp>
        <p:nvSpPr>
          <p:cNvPr id="20" name="Inhaltsplatzhalter 2"/>
          <p:cNvSpPr>
            <a:spLocks noGrp="1"/>
          </p:cNvSpPr>
          <p:nvPr>
            <p:ph idx="1" hasCustomPrompt="1"/>
          </p:nvPr>
        </p:nvSpPr>
        <p:spPr>
          <a:xfrm>
            <a:off x="25451" y="971550"/>
            <a:ext cx="8315181" cy="2742398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20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  <p:sp>
        <p:nvSpPr>
          <p:cNvPr id="21" name="Inhaltsplatzhalter 2"/>
          <p:cNvSpPr>
            <a:spLocks noGrp="1"/>
          </p:cNvSpPr>
          <p:nvPr>
            <p:ph idx="14" hasCustomPrompt="1"/>
          </p:nvPr>
        </p:nvSpPr>
        <p:spPr>
          <a:xfrm>
            <a:off x="25451" y="3713948"/>
            <a:ext cx="8315181" cy="2742398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20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 Verbindung 10"/>
          <p:cNvCxnSpPr/>
          <p:nvPr userDrawn="1"/>
        </p:nvCxnSpPr>
        <p:spPr>
          <a:xfrm>
            <a:off x="4210891" y="914400"/>
            <a:ext cx="0" cy="542925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13"/>
          <p:cNvCxnSpPr/>
          <p:nvPr userDrawn="1"/>
        </p:nvCxnSpPr>
        <p:spPr>
          <a:xfrm>
            <a:off x="138113" y="3714019"/>
            <a:ext cx="8181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20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21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E0BB1B9D-49D0-46D0-B306-9C959DAB0A73}" type="datetime1">
              <a:rPr lang="de-DE" smtClean="0"/>
              <a:t>12.01.2026</a:t>
            </a:fld>
            <a:endParaRPr lang="de-DE"/>
          </a:p>
        </p:txBody>
      </p:sp>
      <p:sp>
        <p:nvSpPr>
          <p:cNvPr id="17" name="Titel 1"/>
          <p:cNvSpPr>
            <a:spLocks noGrp="1"/>
          </p:cNvSpPr>
          <p:nvPr>
            <p:ph type="title" hasCustomPrompt="1"/>
          </p:nvPr>
        </p:nvSpPr>
        <p:spPr>
          <a:xfrm>
            <a:off x="21756" y="173038"/>
            <a:ext cx="7936302" cy="356288"/>
          </a:xfrm>
          <a:prstGeom prst="rect">
            <a:avLst/>
          </a:prstGeom>
        </p:spPr>
        <p:txBody>
          <a:bodyPr anchor="b"/>
          <a:lstStyle>
            <a:lvl1pPr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/>
              <a:t>Abschnittsbereich/ Oberthema (optional)</a:t>
            </a:r>
          </a:p>
        </p:txBody>
      </p:sp>
      <p:sp>
        <p:nvSpPr>
          <p:cNvPr id="18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440036"/>
            <a:ext cx="7950708" cy="360064"/>
          </a:xfrm>
        </p:spPr>
        <p:txBody>
          <a:bodyPr anchor="t"/>
          <a:lstStyle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Folientitel</a:t>
            </a:r>
          </a:p>
        </p:txBody>
      </p:sp>
      <p:sp>
        <p:nvSpPr>
          <p:cNvPr id="19" name="Inhaltsplatzhalter 2"/>
          <p:cNvSpPr>
            <a:spLocks noGrp="1"/>
          </p:cNvSpPr>
          <p:nvPr>
            <p:ph idx="1" hasCustomPrompt="1"/>
          </p:nvPr>
        </p:nvSpPr>
        <p:spPr>
          <a:xfrm>
            <a:off x="25451" y="971550"/>
            <a:ext cx="4177433" cy="2742469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6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4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  <p:sp>
        <p:nvSpPr>
          <p:cNvPr id="22" name="Inhaltsplatzhalter 2"/>
          <p:cNvSpPr>
            <a:spLocks noGrp="1"/>
          </p:cNvSpPr>
          <p:nvPr>
            <p:ph idx="14" hasCustomPrompt="1"/>
          </p:nvPr>
        </p:nvSpPr>
        <p:spPr>
          <a:xfrm>
            <a:off x="4202884" y="971550"/>
            <a:ext cx="4177433" cy="2742469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6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4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  <p:sp>
        <p:nvSpPr>
          <p:cNvPr id="25" name="Inhaltsplatzhalter 2"/>
          <p:cNvSpPr>
            <a:spLocks noGrp="1"/>
          </p:cNvSpPr>
          <p:nvPr>
            <p:ph idx="15" hasCustomPrompt="1"/>
          </p:nvPr>
        </p:nvSpPr>
        <p:spPr>
          <a:xfrm>
            <a:off x="25451" y="3714019"/>
            <a:ext cx="4177433" cy="2742469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6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4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  <p:sp>
        <p:nvSpPr>
          <p:cNvPr id="26" name="Inhaltsplatzhalter 2"/>
          <p:cNvSpPr>
            <a:spLocks noGrp="1"/>
          </p:cNvSpPr>
          <p:nvPr>
            <p:ph idx="16" hasCustomPrompt="1"/>
          </p:nvPr>
        </p:nvSpPr>
        <p:spPr>
          <a:xfrm>
            <a:off x="4202884" y="3714019"/>
            <a:ext cx="4177433" cy="2742469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18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6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6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4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4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>
          <a:xfrm>
            <a:off x="0" y="457381"/>
            <a:ext cx="8089105" cy="385582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0000">
                <a:schemeClr val="accent1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1"/>
              </a:solidFill>
            </a:endParaRPr>
          </a:p>
        </p:txBody>
      </p:sp>
      <p:sp>
        <p:nvSpPr>
          <p:cNvPr id="10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11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13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64C88079-6C24-483E-8CDE-1A037B091822}" type="datetime1">
              <a:rPr lang="de-DE" smtClean="0"/>
              <a:t>12.01.2026</a:t>
            </a:fld>
            <a:endParaRPr lang="de-DE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21756" y="173038"/>
            <a:ext cx="7936302" cy="356288"/>
          </a:xfrm>
          <a:prstGeom prst="rect">
            <a:avLst/>
          </a:prstGeom>
        </p:spPr>
        <p:txBody>
          <a:bodyPr anchor="b"/>
          <a:lstStyle>
            <a:lvl1pPr>
              <a:defRPr sz="1600" b="0">
                <a:solidFill>
                  <a:schemeClr val="tx2"/>
                </a:solidFill>
              </a:defRPr>
            </a:lvl1pPr>
          </a:lstStyle>
          <a:p>
            <a:r>
              <a:rPr lang="de-DE"/>
              <a:t>Abschnittsbereich/ Oberthema (optional)</a:t>
            </a:r>
          </a:p>
        </p:txBody>
      </p:sp>
      <p:sp>
        <p:nvSpPr>
          <p:cNvPr id="17" name="Textplatzhalt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1756" y="473904"/>
            <a:ext cx="7950708" cy="360064"/>
          </a:xfrm>
        </p:spPr>
        <p:txBody>
          <a:bodyPr anchor="t"/>
          <a:lstStyle>
            <a:lvl1pPr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Folientitel</a:t>
            </a:r>
          </a:p>
        </p:txBody>
      </p:sp>
      <p:sp>
        <p:nvSpPr>
          <p:cNvPr id="18" name="Inhaltsplatzhalter 2"/>
          <p:cNvSpPr>
            <a:spLocks noGrp="1"/>
          </p:cNvSpPr>
          <p:nvPr>
            <p:ph idx="1" hasCustomPrompt="1"/>
          </p:nvPr>
        </p:nvSpPr>
        <p:spPr>
          <a:xfrm>
            <a:off x="25451" y="971550"/>
            <a:ext cx="8315181" cy="5377492"/>
          </a:xfrm>
        </p:spPr>
        <p:txBody>
          <a:bodyPr/>
          <a:lstStyle>
            <a:lvl1pPr marL="0" indent="0">
              <a:spcBef>
                <a:spcPts val="1200"/>
              </a:spcBef>
              <a:spcAft>
                <a:spcPts val="600"/>
              </a:spcAft>
              <a:buClr>
                <a:srgbClr val="23A092"/>
              </a:buClr>
              <a:buFont typeface="Wingdings" pitchFamily="2" charset="2"/>
              <a:buNone/>
              <a:defRPr sz="2000" b="1">
                <a:solidFill>
                  <a:schemeClr val="accent1"/>
                </a:solidFill>
              </a:defRPr>
            </a:lvl1pPr>
            <a:lvl2pPr marL="0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defRPr sz="1800">
                <a:solidFill>
                  <a:schemeClr val="tx1"/>
                </a:solidFill>
              </a:defRPr>
            </a:lvl2pPr>
            <a:lvl3pPr marL="271463" indent="-271463" algn="l">
              <a:spcBef>
                <a:spcPts val="6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b="0" baseline="0">
                <a:solidFill>
                  <a:schemeClr val="tx1"/>
                </a:solidFill>
              </a:defRPr>
            </a:lvl3pPr>
            <a:lvl4pPr marL="268288" indent="0" algn="just"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90000"/>
              <a:buFont typeface="Wingdings" pitchFamily="2" charset="2"/>
              <a:buNone/>
              <a:defRPr sz="1800" baseline="0">
                <a:solidFill>
                  <a:schemeClr val="tx1"/>
                </a:solidFill>
              </a:defRPr>
            </a:lvl4pPr>
            <a:lvl5pPr marL="541338" indent="-269875" algn="l">
              <a:spcBef>
                <a:spcPts val="300"/>
              </a:spcBef>
              <a:spcAft>
                <a:spcPts val="300"/>
              </a:spcAft>
              <a:buClr>
                <a:schemeClr val="tx2"/>
              </a:buClr>
              <a:buSzPct val="90000"/>
              <a:buFont typeface="Wingdings" pitchFamily="2" charset="2"/>
              <a:buChar char="§"/>
              <a:defRPr sz="1600" b="0" baseline="0">
                <a:solidFill>
                  <a:schemeClr val="tx1"/>
                </a:solidFill>
              </a:defRPr>
            </a:lvl5pPr>
            <a:lvl6pPr marL="541338" indent="0" algn="just">
              <a:spcBef>
                <a:spcPts val="0"/>
              </a:spcBef>
              <a:spcAft>
                <a:spcPts val="300"/>
              </a:spcAft>
              <a:buNone/>
              <a:defRPr sz="1600">
                <a:solidFill>
                  <a:schemeClr val="tx1"/>
                </a:solidFill>
              </a:defRPr>
            </a:lvl6pPr>
          </a:lstStyle>
          <a:p>
            <a:pPr lvl="0"/>
            <a:r>
              <a:rPr lang="de-DE"/>
              <a:t>Überschrift</a:t>
            </a:r>
          </a:p>
          <a:p>
            <a:pPr lvl="1"/>
            <a:r>
              <a:rPr lang="de-DE"/>
              <a:t>Textebene 1</a:t>
            </a:r>
          </a:p>
          <a:p>
            <a:pPr lvl="2"/>
            <a:r>
              <a:rPr lang="de-DE"/>
              <a:t>Listenebene 1</a:t>
            </a:r>
          </a:p>
          <a:p>
            <a:pPr lvl="3"/>
            <a:r>
              <a:rPr lang="de-DE"/>
              <a:t>Textebene 2</a:t>
            </a:r>
          </a:p>
          <a:p>
            <a:pPr lvl="4"/>
            <a:r>
              <a:rPr lang="de-DE"/>
              <a:t>Listenebene 2</a:t>
            </a:r>
          </a:p>
          <a:p>
            <a:pPr lvl="5"/>
            <a:r>
              <a:rPr lang="de-DE"/>
              <a:t>Textebene 3</a:t>
            </a:r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1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7589434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‹#›</a:t>
            </a:fld>
            <a:endParaRPr lang="de-DE"/>
          </a:p>
        </p:txBody>
      </p:sp>
      <p:sp>
        <p:nvSpPr>
          <p:cNvPr id="7" name="Rectangle 42"/>
          <p:cNvSpPr>
            <a:spLocks noGrp="1" noChangeArrowheads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  <a:prstGeom prst="rect">
            <a:avLst/>
          </a:prstGeom>
          <a:ln/>
        </p:spPr>
        <p:txBody>
          <a:bodyPr/>
          <a:lstStyle>
            <a:lvl1pPr algn="ctr"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Prof. Dr. E Meissner | Qualitative Forschung</a:t>
            </a:r>
          </a:p>
        </p:txBody>
      </p:sp>
      <p:sp>
        <p:nvSpPr>
          <p:cNvPr id="9" name="Rectangle 43"/>
          <p:cNvSpPr>
            <a:spLocks noGrp="1" noChangeArrowheads="1"/>
          </p:cNvSpPr>
          <p:nvPr>
            <p:ph type="dt" sz="half" idx="12"/>
          </p:nvPr>
        </p:nvSpPr>
        <p:spPr>
          <a:xfrm>
            <a:off x="17940" y="6571896"/>
            <a:ext cx="1524000" cy="283234"/>
          </a:xfrm>
          <a:prstGeom prst="rect">
            <a:avLst/>
          </a:prstGeom>
          <a:ln/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F0AA4EA3-BAE5-4258-86E9-6A3ABBFF3243}" type="datetime1">
              <a:rPr lang="de-DE" smtClean="0"/>
              <a:t>12.01.2026</a:t>
            </a:fld>
            <a:endParaRPr lang="de-DE"/>
          </a:p>
        </p:txBody>
      </p:sp>
      <p:sp>
        <p:nvSpPr>
          <p:cNvPr id="10" name="Rechteck 9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457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5660" y="992038"/>
            <a:ext cx="8803137" cy="5172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Klicken Sie, um die Formate des Vorlagentextes zu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5" name="Rechteck 14"/>
          <p:cNvSpPr/>
          <p:nvPr userDrawn="1"/>
        </p:nvSpPr>
        <p:spPr>
          <a:xfrm>
            <a:off x="122238" y="823066"/>
            <a:ext cx="7966867" cy="1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0000">
                <a:schemeClr val="accent1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/>
          <p:cNvSpPr/>
          <p:nvPr/>
        </p:nvSpPr>
        <p:spPr>
          <a:xfrm>
            <a:off x="122238" y="6557906"/>
            <a:ext cx="7966867" cy="144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80000">
                <a:schemeClr val="accent1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311126" y="129944"/>
            <a:ext cx="706038" cy="70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MSIPCMContentMarking" descr="{&quot;HashCode&quot;:-1699574231,&quot;Placement&quot;:&quot;Footer&quot;,&quot;Top&quot;:523.380066,&quot;Left&quot;:0.0,&quot;SlideWidth&quot;:720,&quot;SlideHeight&quot;:540}">
            <a:extLst>
              <a:ext uri="{FF2B5EF4-FFF2-40B4-BE49-F238E27FC236}">
                <a16:creationId xmlns:a16="http://schemas.microsoft.com/office/drawing/2014/main" id="{DA4A527B-F4AD-4DC3-8325-A8A1E419DAC3}"/>
              </a:ext>
            </a:extLst>
          </p:cNvPr>
          <p:cNvSpPr txBox="1"/>
          <p:nvPr userDrawn="1"/>
        </p:nvSpPr>
        <p:spPr bwMode="auto">
          <a:xfrm>
            <a:off x="0" y="6646927"/>
            <a:ext cx="619703" cy="21107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square" lIns="0" tIns="0" rIns="0" bIns="0" numCol="1" rtlCol="0" anchor="ctr" anchorCtr="1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r>
              <a:rPr kumimoji="0" lang="de-DE" sz="7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</a:rPr>
              <a:t>C2 General</a:t>
            </a:r>
            <a:endParaRPr kumimoji="0" lang="de-DE" sz="7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35" r:id="rId2"/>
    <p:sldLayoutId id="2147483749" r:id="rId3"/>
    <p:sldLayoutId id="2147483746" r:id="rId4"/>
    <p:sldLayoutId id="2147483748" r:id="rId5"/>
    <p:sldLayoutId id="2147483747" r:id="rId6"/>
    <p:sldLayoutId id="2147483750" r:id="rId7"/>
    <p:sldLayoutId id="2147483751" r:id="rId8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23A092"/>
          </a:solidFill>
          <a:latin typeface="+mj-lt"/>
          <a:ea typeface="+mj-ea"/>
          <a:cs typeface="+mj-cs"/>
        </a:defRPr>
      </a:lvl1pPr>
      <a:lvl2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2pPr>
      <a:lvl3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3pPr>
      <a:lvl4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4pPr>
      <a:lvl5pPr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5pPr>
      <a:lvl6pPr marL="4572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6pPr>
      <a:lvl7pPr marL="9144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7pPr>
      <a:lvl8pPr marL="13716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8pPr>
      <a:lvl9pPr marL="1828800" algn="r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-"/>
        <a:defRPr sz="2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+"/>
        <a:defRPr sz="20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6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o"/>
        <a:defRPr sz="14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2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FEBDFDEC-FF2C-733B-4F66-18B064C27CBE}"/>
              </a:ext>
            </a:extLst>
          </p:cNvPr>
          <p:cNvSpPr/>
          <p:nvPr/>
        </p:nvSpPr>
        <p:spPr>
          <a:xfrm>
            <a:off x="6769291" y="5748622"/>
            <a:ext cx="2374710" cy="1011578"/>
          </a:xfrm>
          <a:prstGeom prst="rect">
            <a:avLst/>
          </a:prstGeom>
          <a:solidFill>
            <a:srgbClr val="00998B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4" name="Inhaltsplatzhalter 3"/>
          <p:cNvSpPr>
            <a:spLocks noGrp="1"/>
          </p:cNvSpPr>
          <p:nvPr>
            <p:ph sz="quarter" idx="14"/>
          </p:nvPr>
        </p:nvSpPr>
        <p:spPr>
          <a:xfrm>
            <a:off x="6769291" y="5748621"/>
            <a:ext cx="2374709" cy="755782"/>
          </a:xfrm>
        </p:spPr>
        <p:txBody>
          <a:bodyPr/>
          <a:lstStyle/>
          <a:p>
            <a:pPr algn="l"/>
            <a:r>
              <a:rPr lang="de-DE" dirty="0">
                <a:solidFill>
                  <a:schemeClr val="bg1"/>
                </a:solidFill>
              </a:rPr>
              <a:t>Emma </a:t>
            </a:r>
            <a:r>
              <a:rPr lang="de-DE" dirty="0" err="1">
                <a:solidFill>
                  <a:schemeClr val="bg1"/>
                </a:solidFill>
              </a:rPr>
              <a:t>Worrings</a:t>
            </a:r>
            <a:endParaRPr lang="de-DE" dirty="0">
              <a:solidFill>
                <a:schemeClr val="bg1"/>
              </a:solidFill>
            </a:endParaRPr>
          </a:p>
          <a:p>
            <a:pPr algn="l"/>
            <a:r>
              <a:rPr lang="de-DE" dirty="0">
                <a:solidFill>
                  <a:schemeClr val="bg1"/>
                </a:solidFill>
              </a:rPr>
              <a:t>Paul </a:t>
            </a:r>
            <a:r>
              <a:rPr lang="de-DE" dirty="0" err="1">
                <a:solidFill>
                  <a:schemeClr val="bg1"/>
                </a:solidFill>
              </a:rPr>
              <a:t>Gardey</a:t>
            </a:r>
            <a:endParaRPr lang="de-DE" dirty="0">
              <a:solidFill>
                <a:schemeClr val="bg1"/>
              </a:solidFill>
            </a:endParaRPr>
          </a:p>
          <a:p>
            <a:pPr algn="l"/>
            <a:r>
              <a:rPr lang="de-DE" dirty="0">
                <a:solidFill>
                  <a:schemeClr val="bg1"/>
                </a:solidFill>
              </a:rPr>
              <a:t>Leonard Mooren</a:t>
            </a:r>
          </a:p>
          <a:p>
            <a:pPr algn="l"/>
            <a:endParaRPr lang="de-DE" dirty="0">
              <a:solidFill>
                <a:schemeClr val="bg1"/>
              </a:solidFill>
              <a:cs typeface="Arial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1C14B01-A862-9EF2-A1B6-BCC01FF1C194}"/>
              </a:ext>
            </a:extLst>
          </p:cNvPr>
          <p:cNvSpPr txBox="1"/>
          <p:nvPr/>
        </p:nvSpPr>
        <p:spPr bwMode="auto">
          <a:xfrm>
            <a:off x="2635624" y="4453666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8F80617-D938-DD2B-2838-4B4A681EBAF0}"/>
              </a:ext>
            </a:extLst>
          </p:cNvPr>
          <p:cNvSpPr txBox="1"/>
          <p:nvPr/>
        </p:nvSpPr>
        <p:spPr bwMode="auto">
          <a:xfrm>
            <a:off x="578509" y="1315079"/>
            <a:ext cx="7986982" cy="156966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marL="342900" indent="-342900" algn="ctr">
              <a:spcBef>
                <a:spcPct val="20000"/>
              </a:spcBef>
            </a:pPr>
            <a:r>
              <a:rPr lang="de-DE" sz="3200" b="1" dirty="0">
                <a:solidFill>
                  <a:schemeClr val="accent1"/>
                </a:solidFill>
                <a:latin typeface="+mn-lt"/>
              </a:rPr>
              <a:t>Lerneffekte bei der </a:t>
            </a:r>
            <a:r>
              <a:rPr lang="de-DE" sz="3200" b="1" dirty="0" err="1">
                <a:solidFill>
                  <a:schemeClr val="accent1"/>
                </a:solidFill>
                <a:latin typeface="+mn-lt"/>
              </a:rPr>
              <a:t>Phishingerkennung</a:t>
            </a:r>
            <a:r>
              <a:rPr lang="de-DE" sz="3200" b="1" dirty="0">
                <a:solidFill>
                  <a:schemeClr val="accent1"/>
                </a:solidFill>
                <a:latin typeface="+mn-lt"/>
              </a:rPr>
              <a:t> in Abhängigkeit von verschiedenen Lehrmethoden</a:t>
            </a:r>
          </a:p>
        </p:txBody>
      </p:sp>
      <p:sp>
        <p:nvSpPr>
          <p:cNvPr id="12" name="Objekt 7" descr="Beiges Rechteck">
            <a:extLst>
              <a:ext uri="{FF2B5EF4-FFF2-40B4-BE49-F238E27FC236}">
                <a16:creationId xmlns:a16="http://schemas.microsoft.com/office/drawing/2014/main" id="{B36975AA-C62E-46BE-9382-E2CF56FDF817}"/>
              </a:ext>
            </a:extLst>
          </p:cNvPr>
          <p:cNvSpPr/>
          <p:nvPr/>
        </p:nvSpPr>
        <p:spPr>
          <a:xfrm flipV="1">
            <a:off x="1799151" y="3990701"/>
            <a:ext cx="5545699" cy="34289"/>
          </a:xfrm>
          <a:custGeom>
            <a:avLst/>
            <a:gdLst/>
            <a:ahLst/>
            <a:cxnLst/>
            <a:rect l="l" t="t" r="r" b="b"/>
            <a:pathLst>
              <a:path w="3935729">
                <a:moveTo>
                  <a:pt x="0" y="0"/>
                </a:moveTo>
                <a:lnTo>
                  <a:pt x="3935349" y="0"/>
                </a:lnTo>
              </a:path>
            </a:pathLst>
          </a:custGeom>
          <a:ln w="54863">
            <a:solidFill>
              <a:schemeClr val="accent1"/>
            </a:solidFill>
          </a:ln>
        </p:spPr>
        <p:txBody>
          <a:bodyPr wrap="square" lIns="0" tIns="0" rIns="0" bIns="0" rtlCol="0"/>
          <a:lstStyle/>
          <a:p>
            <a:pPr rtl="0"/>
            <a:endParaRPr lang="de-DE" sz="18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546D084-43D1-0313-23D7-3E18D64B1D5D}"/>
              </a:ext>
            </a:extLst>
          </p:cNvPr>
          <p:cNvSpPr txBox="1"/>
          <p:nvPr/>
        </p:nvSpPr>
        <p:spPr bwMode="auto">
          <a:xfrm>
            <a:off x="740434" y="2966898"/>
            <a:ext cx="7986982" cy="40011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marL="342900" indent="-342900" algn="ctr">
              <a:spcBef>
                <a:spcPct val="20000"/>
              </a:spcBef>
            </a:pPr>
            <a:r>
              <a:rPr lang="de-DE" sz="2000" b="1" dirty="0">
                <a:solidFill>
                  <a:schemeClr val="accent1"/>
                </a:solidFill>
                <a:latin typeface="+mn-lt"/>
              </a:rPr>
              <a:t>Eine methodische Vorbereitung für eine Bachelorarbeit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8D1311E-A3FA-BBD3-D229-64254A485A6F}"/>
              </a:ext>
            </a:extLst>
          </p:cNvPr>
          <p:cNvSpPr txBox="1"/>
          <p:nvPr/>
        </p:nvSpPr>
        <p:spPr bwMode="auto">
          <a:xfrm>
            <a:off x="578509" y="4192740"/>
            <a:ext cx="7986982" cy="113877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marL="342900" indent="-342900" algn="ctr">
              <a:spcBef>
                <a:spcPct val="20000"/>
              </a:spcBef>
            </a:pPr>
            <a:r>
              <a:rPr lang="de-DE" sz="2000" b="1" dirty="0">
                <a:solidFill>
                  <a:schemeClr val="accent1"/>
                </a:solidFill>
                <a:latin typeface="+mn-lt"/>
              </a:rPr>
              <a:t>Projekt: Forschungsmethoden</a:t>
            </a:r>
          </a:p>
          <a:p>
            <a:pPr marL="342900" indent="-342900" algn="ctr">
              <a:spcBef>
                <a:spcPct val="20000"/>
              </a:spcBef>
            </a:pPr>
            <a:r>
              <a:rPr lang="de-DE" sz="2000" b="1" dirty="0">
                <a:solidFill>
                  <a:schemeClr val="accent1"/>
                </a:solidFill>
                <a:latin typeface="+mn-lt"/>
              </a:rPr>
              <a:t>Prof. Dr. Jörg Klukas </a:t>
            </a:r>
          </a:p>
          <a:p>
            <a:pPr marL="342900" indent="-342900" algn="ctr">
              <a:spcBef>
                <a:spcPct val="20000"/>
              </a:spcBef>
            </a:pPr>
            <a:r>
              <a:rPr lang="de-DE" sz="2000" b="1" dirty="0">
                <a:solidFill>
                  <a:schemeClr val="accent1"/>
                </a:solidFill>
                <a:latin typeface="+mn-lt"/>
              </a:rPr>
              <a:t>Datum: 31.01.2026</a:t>
            </a:r>
          </a:p>
        </p:txBody>
      </p:sp>
    </p:spTree>
    <p:extLst>
      <p:ext uri="{BB962C8B-B14F-4D97-AF65-F5344CB8AC3E}">
        <p14:creationId xmlns:p14="http://schemas.microsoft.com/office/powerpoint/2010/main" val="4079903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B701A09-45CE-42A0-A81D-5DC919EB42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2</a:t>
            </a:fld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236E11E-05F3-4C87-AF1F-CBCB35A3A50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A5CFB5A-0C23-4EC1-8D94-5428FCAABB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F95CDB48-454B-5263-627C-A01B0398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045" y="1106588"/>
            <a:ext cx="6893799" cy="5164558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AutoNum type="arabicPeriod"/>
            </a:pPr>
            <a:r>
              <a:rPr lang="de-DE" sz="2400" dirty="0">
                <a:ea typeface="+mn-lt"/>
                <a:cs typeface="+mn-lt"/>
              </a:rPr>
              <a:t>Kontext</a:t>
            </a:r>
            <a:r>
              <a:rPr lang="de-DE" sz="2400" dirty="0">
                <a:solidFill>
                  <a:srgbClr val="00998A"/>
                </a:solidFill>
              </a:rPr>
              <a:t> &amp; Praxisproblem</a:t>
            </a:r>
            <a:endParaRPr lang="de-DE" sz="2400" dirty="0"/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de-DE" sz="2400" dirty="0">
                <a:ea typeface="+mn-lt"/>
                <a:cs typeface="+mn-lt"/>
              </a:rPr>
              <a:t>Stand</a:t>
            </a:r>
            <a:r>
              <a:rPr lang="de-DE" sz="2400" dirty="0">
                <a:solidFill>
                  <a:srgbClr val="00998A"/>
                </a:solidFill>
                <a:cs typeface="Arial"/>
              </a:rPr>
              <a:t> der Forschung &amp; Forschungslücke</a:t>
            </a:r>
            <a:endParaRPr lang="de-DE" sz="2400" dirty="0"/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de-DE" sz="2400" dirty="0">
                <a:ea typeface="+mn-lt"/>
                <a:cs typeface="+mn-lt"/>
              </a:rPr>
              <a:t>Zielsetzung</a:t>
            </a:r>
            <a:r>
              <a:rPr lang="de-DE" sz="2400" dirty="0">
                <a:solidFill>
                  <a:srgbClr val="00998A"/>
                </a:solidFill>
                <a:cs typeface="Arial"/>
              </a:rPr>
              <a:t> &amp; Forschungsfragen</a:t>
            </a:r>
            <a:endParaRPr lang="de-DE" sz="2400" dirty="0"/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de-DE" sz="2400" dirty="0">
                <a:solidFill>
                  <a:srgbClr val="00998A"/>
                </a:solidFill>
                <a:cs typeface="Arial" panose="020B0604020202020204"/>
              </a:rPr>
              <a:t>Forschungsdesign &amp; Methodik</a:t>
            </a: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de-DE" sz="2400" dirty="0">
                <a:solidFill>
                  <a:srgbClr val="00998A"/>
                </a:solidFill>
                <a:cs typeface="Arial" panose="020B0604020202020204"/>
              </a:rPr>
              <a:t>Theorie-Praxis-Transfer</a:t>
            </a:r>
            <a:endParaRPr lang="de-DE" sz="2400" dirty="0">
              <a:cs typeface="Arial" panose="020B0604020202020204"/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endParaRPr lang="de-DE" dirty="0">
              <a:cs typeface="Arial" panose="020B0604020202020204"/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394910CD-B1F6-554F-02B9-17ACE133B9B1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Fußzeilenplatzhalter 2">
            <a:extLst>
              <a:ext uri="{FF2B5EF4-FFF2-40B4-BE49-F238E27FC236}">
                <a16:creationId xmlns:a16="http://schemas.microsoft.com/office/drawing/2014/main" id="{24D6C491-A4FB-2C07-A2FB-74C79C7D1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Inhaltsverzeichnis</a:t>
            </a:r>
          </a:p>
          <a:p>
            <a:pPr>
              <a:defRPr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6859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D8FFD5-BE74-3B9B-8FE7-9EC69274F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20DD9A1-E7D2-A59F-E815-EF91BEB37F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3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98FD0AE8-C89E-2F23-9EF7-334DABB4D4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1. Kontext &amp; Praxisproblem</a:t>
            </a:r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43B34685-2104-7026-F8C7-C5B1C374E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03672"/>
            <a:ext cx="9144000" cy="763549"/>
          </a:xfrm>
        </p:spPr>
        <p:txBody>
          <a:bodyPr/>
          <a:lstStyle/>
          <a:p>
            <a:pPr algn="ctr"/>
            <a:r>
              <a:rPr lang="de-DE" sz="4000" dirty="0"/>
              <a:t>1. Kontext &amp; Praxisproblem</a:t>
            </a:r>
            <a:endParaRPr lang="de-DE" dirty="0">
              <a:cs typeface="Arial"/>
            </a:endParaRP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407B73B4-5C30-3232-CF69-F16080E991FF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EE3FE48A-6E22-FC71-7C48-DF7ECBE573E3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15" name="Fußzeilenplatzhalter 2">
            <a:extLst>
              <a:ext uri="{FF2B5EF4-FFF2-40B4-BE49-F238E27FC236}">
                <a16:creationId xmlns:a16="http://schemas.microsoft.com/office/drawing/2014/main" id="{6B93BABB-6328-5658-F040-36C3CB65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1. Kontext &amp; Praxisproblem</a:t>
            </a:r>
          </a:p>
          <a:p>
            <a:pPr>
              <a:defRPr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796650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873E32-7BD4-3948-571D-4F7345029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feld 30">
            <a:extLst>
              <a:ext uri="{FF2B5EF4-FFF2-40B4-BE49-F238E27FC236}">
                <a16:creationId xmlns:a16="http://schemas.microsoft.com/office/drawing/2014/main" id="{C8DBC553-FAE7-592F-CEA5-B20341B8C4FE}"/>
              </a:ext>
            </a:extLst>
          </p:cNvPr>
          <p:cNvSpPr txBox="1"/>
          <p:nvPr/>
        </p:nvSpPr>
        <p:spPr bwMode="auto">
          <a:xfrm>
            <a:off x="194705" y="4846344"/>
            <a:ext cx="6659475" cy="1323439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sz="2000" i="0" dirty="0">
                <a:effectLst/>
                <a:latin typeface="+mj-lt"/>
              </a:rPr>
              <a:t>häufig geringere Bewerbungserfahrung</a:t>
            </a:r>
          </a:p>
          <a:p>
            <a:r>
              <a:rPr lang="de-DE" sz="2000" b="0" i="0" dirty="0">
                <a:effectLst/>
                <a:latin typeface="+mj-lt"/>
              </a:rPr>
              <a:t>     höhere Unsicherheit</a:t>
            </a:r>
          </a:p>
          <a:p>
            <a:r>
              <a:rPr lang="de-DE" sz="2000" b="0" i="0" dirty="0">
                <a:effectLst/>
                <a:latin typeface="+mj-lt"/>
              </a:rPr>
              <a:t>     Wahrnehmungen zu Fairness</a:t>
            </a:r>
            <a:r>
              <a:rPr lang="de-DE" sz="2000" dirty="0">
                <a:latin typeface="+mj-lt"/>
              </a:rPr>
              <a:t> und </a:t>
            </a:r>
            <a:r>
              <a:rPr lang="de-DE" sz="2000" b="0" i="0" dirty="0">
                <a:effectLst/>
                <a:latin typeface="+mj-lt"/>
              </a:rPr>
              <a:t>Transparenz</a:t>
            </a:r>
            <a:br>
              <a:rPr lang="de-DE" sz="2000" b="0" i="0" dirty="0">
                <a:effectLst/>
                <a:latin typeface="+mj-lt"/>
              </a:rPr>
            </a:br>
            <a:r>
              <a:rPr lang="de-DE" sz="2000" b="0" i="0" dirty="0">
                <a:effectLst/>
                <a:latin typeface="+mj-lt"/>
              </a:rPr>
              <a:t>     könnten </a:t>
            </a:r>
            <a:r>
              <a:rPr lang="de-DE" sz="2000" b="1" i="0" dirty="0">
                <a:solidFill>
                  <a:srgbClr val="007368"/>
                </a:solidFill>
                <a:effectLst/>
                <a:latin typeface="+mj-lt"/>
              </a:rPr>
              <a:t>stärker auf Akzeptanz</a:t>
            </a:r>
            <a:r>
              <a:rPr lang="de-DE" sz="2000" b="1" dirty="0">
                <a:solidFill>
                  <a:srgbClr val="007368"/>
                </a:solidFill>
                <a:latin typeface="+mj-lt"/>
              </a:rPr>
              <a:t> </a:t>
            </a:r>
            <a:r>
              <a:rPr lang="de-DE" sz="2000" b="0" i="0" dirty="0">
                <a:effectLst/>
                <a:latin typeface="+mj-lt"/>
              </a:rPr>
              <a:t>wirken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01B9073-1507-7BC9-E414-D8C0D1F7F92E}"/>
              </a:ext>
            </a:extLst>
          </p:cNvPr>
          <p:cNvSpPr/>
          <p:nvPr/>
        </p:nvSpPr>
        <p:spPr>
          <a:xfrm>
            <a:off x="0" y="4290902"/>
            <a:ext cx="5472751" cy="524075"/>
          </a:xfrm>
          <a:prstGeom prst="rect">
            <a:avLst/>
          </a:prstGeom>
          <a:solidFill>
            <a:srgbClr val="00998B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2F3391A-E471-5D23-AB13-47582DEB2E11}"/>
              </a:ext>
            </a:extLst>
          </p:cNvPr>
          <p:cNvSpPr/>
          <p:nvPr/>
        </p:nvSpPr>
        <p:spPr>
          <a:xfrm>
            <a:off x="1163471" y="1335529"/>
            <a:ext cx="6817056" cy="1179872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4258465-7761-0B73-8F4E-B73FF477E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4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11F9B33-E530-6118-7DF5-2DD0ABC3DA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Kontext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9729269-0B05-7C6A-ABF7-8FE6A2C55306}"/>
              </a:ext>
            </a:extLst>
          </p:cNvPr>
          <p:cNvSpPr txBox="1"/>
          <p:nvPr/>
        </p:nvSpPr>
        <p:spPr bwMode="auto">
          <a:xfrm>
            <a:off x="6291943" y="3325505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48F1212A-2047-00E7-CFD3-5447763F2950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6D3BEADB-85FC-8D96-79CB-CC7FEDFF7147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91FE209-2987-25E5-01F7-5984AEB33CEC}"/>
              </a:ext>
            </a:extLst>
          </p:cNvPr>
          <p:cNvSpPr txBox="1"/>
          <p:nvPr/>
        </p:nvSpPr>
        <p:spPr bwMode="auto">
          <a:xfrm>
            <a:off x="1195885" y="1381443"/>
            <a:ext cx="6752228" cy="2616101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de-DE" b="1" i="0" dirty="0">
                <a:solidFill>
                  <a:schemeClr val="bg1"/>
                </a:solidFill>
                <a:effectLst/>
                <a:latin typeface="+mj-lt"/>
              </a:rPr>
              <a:t>Ausbildungsprogramme bei Ford</a:t>
            </a:r>
          </a:p>
          <a:p>
            <a:pPr algn="ctr"/>
            <a:r>
              <a:rPr lang="de-DE" sz="2000" i="0" dirty="0">
                <a:effectLst/>
                <a:latin typeface="+mj-lt"/>
              </a:rPr>
              <a:t>hohe Bewerberzahlen </a:t>
            </a:r>
            <a:r>
              <a:rPr lang="de-DE" sz="2000" b="0" i="0" dirty="0">
                <a:effectLst/>
                <a:latin typeface="+mj-lt"/>
              </a:rPr>
              <a:t>benötigen effiziente, konsistente Vorauswahlprozesse</a:t>
            </a:r>
            <a:endParaRPr lang="de-DE" sz="2000" dirty="0">
              <a:latin typeface="+mj-lt"/>
            </a:endParaRPr>
          </a:p>
          <a:p>
            <a:pPr algn="ctr"/>
            <a:br>
              <a:rPr lang="de-DE" sz="2000" dirty="0">
                <a:latin typeface="+mj-lt"/>
              </a:rPr>
            </a:br>
            <a:endParaRPr lang="de-DE" sz="2000" dirty="0">
              <a:latin typeface="+mj-lt"/>
            </a:endParaRPr>
          </a:p>
          <a:p>
            <a:pPr algn="ctr"/>
            <a:r>
              <a:rPr lang="de-DE" sz="2000" i="0" dirty="0">
                <a:effectLst/>
                <a:latin typeface="+mj-lt"/>
              </a:rPr>
              <a:t>zunehmend Einsatz von</a:t>
            </a:r>
            <a:br>
              <a:rPr lang="de-DE" sz="2000" i="0" dirty="0">
                <a:effectLst/>
                <a:latin typeface="+mj-lt"/>
              </a:rPr>
            </a:br>
            <a:r>
              <a:rPr lang="de-DE" sz="2000" b="1" i="0" dirty="0">
                <a:solidFill>
                  <a:schemeClr val="accent1">
                    <a:lumMod val="75000"/>
                  </a:schemeClr>
                </a:solidFill>
                <a:effectLst/>
                <a:latin typeface="+mj-lt"/>
              </a:rPr>
              <a:t>KI- oder Algorithmik-unterstützten Verfahren</a:t>
            </a:r>
            <a:br>
              <a:rPr lang="de-DE" sz="2000" dirty="0">
                <a:latin typeface="+mj-lt"/>
              </a:rPr>
            </a:br>
            <a:r>
              <a:rPr lang="de-DE" sz="2000" i="0" dirty="0">
                <a:effectLst/>
                <a:latin typeface="+mj-lt"/>
              </a:rPr>
              <a:t>(z. B. </a:t>
            </a:r>
            <a:r>
              <a:rPr lang="de-DE" sz="2000" i="0" dirty="0" err="1">
                <a:effectLst/>
                <a:latin typeface="+mj-lt"/>
              </a:rPr>
              <a:t>Matching</a:t>
            </a:r>
            <a:r>
              <a:rPr lang="de-DE" sz="2000" dirty="0">
                <a:latin typeface="+mj-lt"/>
              </a:rPr>
              <a:t>, </a:t>
            </a:r>
            <a:r>
              <a:rPr lang="de-DE" sz="2000" i="0" dirty="0">
                <a:effectLst/>
                <a:latin typeface="+mj-lt"/>
              </a:rPr>
              <a:t>Scoring</a:t>
            </a:r>
            <a:r>
              <a:rPr lang="de-DE" sz="2000" dirty="0">
                <a:latin typeface="+mj-lt"/>
              </a:rPr>
              <a:t>, </a:t>
            </a:r>
            <a:r>
              <a:rPr lang="de-DE" sz="2000" i="0" dirty="0">
                <a:effectLst/>
                <a:latin typeface="+mj-lt"/>
              </a:rPr>
              <a:t>Ranking…)</a:t>
            </a:r>
          </a:p>
        </p:txBody>
      </p:sp>
      <p:pic>
        <p:nvPicPr>
          <p:cNvPr id="11" name="Grafik 10" descr="Wiedergabe mit einfarbiger Füllung">
            <a:extLst>
              <a:ext uri="{FF2B5EF4-FFF2-40B4-BE49-F238E27FC236}">
                <a16:creationId xmlns:a16="http://schemas.microsoft.com/office/drawing/2014/main" id="{DA64B745-6A5F-17E1-9D7C-05CC4440E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292404" y="2515401"/>
            <a:ext cx="559191" cy="559191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2A19AFC3-D873-E9B2-CA72-9BC4696B396C}"/>
              </a:ext>
            </a:extLst>
          </p:cNvPr>
          <p:cNvSpPr txBox="1"/>
          <p:nvPr/>
        </p:nvSpPr>
        <p:spPr bwMode="auto">
          <a:xfrm>
            <a:off x="194706" y="4322269"/>
            <a:ext cx="5134745" cy="461665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b="1" i="0" dirty="0">
                <a:solidFill>
                  <a:schemeClr val="bg1"/>
                </a:solidFill>
                <a:effectLst/>
                <a:latin typeface="+mj-lt"/>
              </a:rPr>
              <a:t>Spezifik Ausbildungsbewerbende:</a:t>
            </a:r>
            <a:endParaRPr lang="de-DE" sz="2000" b="0" i="0" dirty="0">
              <a:effectLst/>
              <a:latin typeface="+mj-lt"/>
            </a:endParaRPr>
          </a:p>
        </p:txBody>
      </p:sp>
      <p:pic>
        <p:nvPicPr>
          <p:cNvPr id="25" name="Grafik 24" descr="Wiedergabe mit einfarbiger Füllung">
            <a:extLst>
              <a:ext uri="{FF2B5EF4-FFF2-40B4-BE49-F238E27FC236}">
                <a16:creationId xmlns:a16="http://schemas.microsoft.com/office/drawing/2014/main" id="{F835AC62-FB30-00CC-69DD-A1997CDBFB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8938" y="5498032"/>
            <a:ext cx="299505" cy="299505"/>
          </a:xfrm>
          <a:prstGeom prst="rect">
            <a:avLst/>
          </a:prstGeom>
        </p:spPr>
      </p:pic>
      <p:pic>
        <p:nvPicPr>
          <p:cNvPr id="29" name="Grafik 28" descr="Wiedergabe mit einfarbiger Füllung">
            <a:extLst>
              <a:ext uri="{FF2B5EF4-FFF2-40B4-BE49-F238E27FC236}">
                <a16:creationId xmlns:a16="http://schemas.microsoft.com/office/drawing/2014/main" id="{DB113F96-7F51-E780-8C24-BD1C9B9EB4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8938" y="5209971"/>
            <a:ext cx="299505" cy="299505"/>
          </a:xfrm>
          <a:prstGeom prst="rect">
            <a:avLst/>
          </a:prstGeom>
        </p:spPr>
      </p:pic>
      <p:sp>
        <p:nvSpPr>
          <p:cNvPr id="32" name="Fußzeilenplatzhalter 2">
            <a:extLst>
              <a:ext uri="{FF2B5EF4-FFF2-40B4-BE49-F238E27FC236}">
                <a16:creationId xmlns:a16="http://schemas.microsoft.com/office/drawing/2014/main" id="{F55FE5C2-ADEE-4C12-BA4E-1AF3E2D35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1. Kontext &amp; Praxisproblem</a:t>
            </a:r>
          </a:p>
          <a:p>
            <a:pPr>
              <a:defRPr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5453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1EEDB3A-E25E-F872-9916-B6D87F643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C6AC7A6-C267-301F-D324-BEC9E443F9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5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11A76DC-DECE-C3C3-FCF5-C5F5F4BE88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/>
              <a:t>Praxisproblem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9B3ACA1-83B9-CA5B-A5FE-B25F3BE3ED9D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F5C630AD-072F-226E-EF91-D66C634FEB90}"/>
              </a:ext>
            </a:extLst>
          </p:cNvPr>
          <p:cNvGrpSpPr/>
          <p:nvPr/>
        </p:nvGrpSpPr>
        <p:grpSpPr>
          <a:xfrm>
            <a:off x="597638" y="1839287"/>
            <a:ext cx="7943648" cy="1587479"/>
            <a:chOff x="461316" y="1902204"/>
            <a:chExt cx="7943648" cy="1587479"/>
          </a:xfrm>
        </p:grpSpPr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C4FB8C9-05CA-6705-3D72-F847CE07BC82}"/>
                </a:ext>
              </a:extLst>
            </p:cNvPr>
            <p:cNvSpPr txBox="1"/>
            <p:nvPr/>
          </p:nvSpPr>
          <p:spPr bwMode="auto">
            <a:xfrm>
              <a:off x="1011678" y="1902655"/>
              <a:ext cx="7393286" cy="1587028"/>
            </a:xfrm>
            <a:prstGeom prst="rect">
              <a:avLst/>
            </a:prstGeom>
            <a:noFill/>
            <a:ln w="12700">
              <a:noFill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000" dirty="0" err="1">
                  <a:latin typeface="Arial"/>
                  <a:cs typeface="Arial"/>
                </a:rPr>
                <a:t>kann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Effizienz</a:t>
              </a:r>
              <a:r>
                <a:rPr lang="en-US" sz="2000" dirty="0">
                  <a:latin typeface="Arial"/>
                  <a:cs typeface="Arial"/>
                </a:rPr>
                <a:t> und </a:t>
              </a:r>
              <a:r>
                <a:rPr lang="en-US" sz="2000" dirty="0" err="1">
                  <a:latin typeface="Arial"/>
                  <a:cs typeface="Arial"/>
                </a:rPr>
                <a:t>Standardisierung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erhöhen</a:t>
              </a:r>
              <a:endParaRPr lang="en-US" sz="2000" dirty="0">
                <a:latin typeface="Arial"/>
                <a:cs typeface="Arial"/>
              </a:endParaRPr>
            </a:p>
            <a:p>
              <a:endParaRPr lang="en-US" sz="2000" dirty="0">
                <a:latin typeface="Arial"/>
                <a:cs typeface="Arial"/>
              </a:endParaRPr>
            </a:p>
            <a:p>
              <a:r>
                <a:rPr lang="en-US" sz="2000" dirty="0" err="1">
                  <a:latin typeface="Arial"/>
                  <a:cs typeface="Arial"/>
                </a:rPr>
                <a:t>Risiko</a:t>
              </a:r>
              <a:r>
                <a:rPr lang="en-US" sz="2000" dirty="0">
                  <a:latin typeface="Arial"/>
                  <a:cs typeface="Arial"/>
                </a:rPr>
                <a:t> von </a:t>
              </a:r>
              <a:r>
                <a:rPr lang="en-US" sz="2000" dirty="0" err="1">
                  <a:latin typeface="Arial"/>
                  <a:cs typeface="Arial"/>
                </a:rPr>
                <a:t>Ablehnung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durch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Bewerbende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bei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Intransparenz</a:t>
              </a:r>
              <a:r>
                <a:rPr lang="en-US" sz="2000" dirty="0">
                  <a:latin typeface="Arial"/>
                  <a:cs typeface="Arial"/>
                </a:rPr>
                <a:t> </a:t>
              </a:r>
              <a:r>
                <a:rPr lang="en-US" sz="2000" dirty="0" err="1">
                  <a:latin typeface="Arial"/>
                  <a:cs typeface="Arial"/>
                </a:rPr>
                <a:t>oder</a:t>
              </a:r>
              <a:r>
                <a:rPr lang="en-US" sz="2000" dirty="0">
                  <a:latin typeface="Arial"/>
                  <a:cs typeface="Arial"/>
                </a:rPr>
                <a:t> Bias-</a:t>
              </a:r>
              <a:r>
                <a:rPr lang="en-US" sz="2000" dirty="0" err="1">
                  <a:latin typeface="Arial"/>
                  <a:cs typeface="Arial"/>
                </a:rPr>
                <a:t>Vermutung</a:t>
              </a:r>
              <a:endParaRPr lang="en-US" sz="2000" dirty="0">
                <a:latin typeface="Arial"/>
                <a:cs typeface="Arial"/>
              </a:endParaRPr>
            </a:p>
            <a:p>
              <a:pPr algn="ctr">
                <a:lnSpc>
                  <a:spcPct val="15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23A092"/>
                </a:buClr>
                <a:buSzPct val="80000"/>
                <a:buFont typeface="Wingdings" pitchFamily="2" charset="2"/>
              </a:pPr>
              <a:endParaRPr lang="de-DE" sz="1400" kern="0" dirty="0">
                <a:latin typeface="Arial"/>
                <a:cs typeface="Arial"/>
              </a:endParaRPr>
            </a:p>
          </p:txBody>
        </p:sp>
        <p:pic>
          <p:nvPicPr>
            <p:cNvPr id="15" name="Grafik 14" descr="Daumen hoch-Zeichen mit einfarbiger Füllung">
              <a:extLst>
                <a:ext uri="{FF2B5EF4-FFF2-40B4-BE49-F238E27FC236}">
                  <a16:creationId xmlns:a16="http://schemas.microsoft.com/office/drawing/2014/main" id="{0ED1203B-B143-A75E-AD87-FEC2200E8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5248" y="1902204"/>
              <a:ext cx="442520" cy="442520"/>
            </a:xfrm>
            <a:prstGeom prst="rect">
              <a:avLst/>
            </a:prstGeom>
          </p:spPr>
        </p:pic>
        <p:pic>
          <p:nvPicPr>
            <p:cNvPr id="16" name="Grafik 15" descr="Daumen runter mit einfarbiger Füllung">
              <a:extLst>
                <a:ext uri="{FF2B5EF4-FFF2-40B4-BE49-F238E27FC236}">
                  <a16:creationId xmlns:a16="http://schemas.microsoft.com/office/drawing/2014/main" id="{2236CA39-28EE-C1C1-C464-42B6763A4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1316" y="2581377"/>
              <a:ext cx="453007" cy="453008"/>
            </a:xfrm>
            <a:prstGeom prst="rect">
              <a:avLst/>
            </a:prstGeom>
          </p:spPr>
        </p:pic>
      </p:grpSp>
      <p:sp>
        <p:nvSpPr>
          <p:cNvPr id="18" name="Textfeld 17">
            <a:extLst>
              <a:ext uri="{FF2B5EF4-FFF2-40B4-BE49-F238E27FC236}">
                <a16:creationId xmlns:a16="http://schemas.microsoft.com/office/drawing/2014/main" id="{4C488E16-91D7-25D7-44CD-31652458DE8D}"/>
              </a:ext>
            </a:extLst>
          </p:cNvPr>
          <p:cNvSpPr txBox="1"/>
          <p:nvPr/>
        </p:nvSpPr>
        <p:spPr bwMode="auto">
          <a:xfrm>
            <a:off x="1394670" y="1090570"/>
            <a:ext cx="6197365" cy="811367"/>
          </a:xfrm>
          <a:prstGeom prst="rect">
            <a:avLst/>
          </a:prstGeom>
          <a:noFill/>
          <a:ln w="12700">
            <a:noFill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baseline="0" dirty="0">
                <a:solidFill>
                  <a:schemeClr val="accent1"/>
                </a:solidFill>
                <a:latin typeface="Arial"/>
              </a:rPr>
              <a:t>KI-</a:t>
            </a:r>
            <a:r>
              <a:rPr lang="en-US" b="1" baseline="0" dirty="0" err="1">
                <a:solidFill>
                  <a:schemeClr val="accent1"/>
                </a:solidFill>
                <a:latin typeface="Arial"/>
              </a:rPr>
              <a:t>gestützte</a:t>
            </a:r>
            <a:r>
              <a:rPr lang="en-US" b="1" baseline="0" dirty="0">
                <a:solidFill>
                  <a:schemeClr val="accent1"/>
                </a:solidFill>
                <a:latin typeface="Arial"/>
              </a:rPr>
              <a:t> </a:t>
            </a:r>
            <a:r>
              <a:rPr lang="en-US" b="1" baseline="0" dirty="0" err="1">
                <a:solidFill>
                  <a:schemeClr val="accent1"/>
                </a:solidFill>
                <a:latin typeface="Arial"/>
              </a:rPr>
              <a:t>Auswahl</a:t>
            </a:r>
            <a:r>
              <a:rPr lang="en-US" b="1" dirty="0">
                <a:solidFill>
                  <a:schemeClr val="accent1"/>
                </a:solidFill>
                <a:latin typeface="Arial"/>
              </a:rPr>
              <a:t> von </a:t>
            </a:r>
            <a:r>
              <a:rPr lang="en-US" b="1" dirty="0" err="1">
                <a:solidFill>
                  <a:schemeClr val="accent1"/>
                </a:solidFill>
                <a:latin typeface="Arial"/>
              </a:rPr>
              <a:t>Bewerber</a:t>
            </a:r>
            <a:r>
              <a:rPr lang="en-US" b="1" dirty="0">
                <a:solidFill>
                  <a:schemeClr val="accent1"/>
                </a:solidFill>
                <a:latin typeface="Arial"/>
              </a:rPr>
              <a:t>*</a:t>
            </a:r>
            <a:r>
              <a:rPr lang="en-US" b="1" dirty="0" err="1">
                <a:solidFill>
                  <a:schemeClr val="accent1"/>
                </a:solidFill>
                <a:latin typeface="Arial"/>
              </a:rPr>
              <a:t>innen</a:t>
            </a:r>
            <a:endParaRPr lang="de-DE" b="1" dirty="0">
              <a:solidFill>
                <a:schemeClr val="accent1"/>
              </a:solidFill>
              <a:cs typeface="Arial"/>
            </a:endParaRPr>
          </a:p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lang="de-DE" b="1" i="0" u="none" strike="noStrike" kern="0" cap="none" spc="0" normalizeH="0" baseline="0" noProof="0" dirty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cs typeface="Arial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D1021DD6-3551-4898-C02C-71B5F94A16A1}"/>
              </a:ext>
            </a:extLst>
          </p:cNvPr>
          <p:cNvSpPr txBox="1"/>
          <p:nvPr/>
        </p:nvSpPr>
        <p:spPr bwMode="auto">
          <a:xfrm>
            <a:off x="1153486" y="3544021"/>
            <a:ext cx="7724163" cy="2170137"/>
          </a:xfrm>
          <a:prstGeom prst="rect">
            <a:avLst/>
          </a:prstGeom>
          <a:noFill/>
          <a:ln w="12700">
            <a:noFill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 err="1">
                <a:solidFill>
                  <a:schemeClr val="accent1"/>
                </a:solidFill>
                <a:latin typeface="Arial"/>
                <a:cs typeface="Arial"/>
              </a:rPr>
              <a:t>Relevanz</a:t>
            </a:r>
            <a:r>
              <a:rPr lang="en-US" sz="2000" b="1" dirty="0">
                <a:solidFill>
                  <a:schemeClr val="accent1"/>
                </a:solidFill>
                <a:latin typeface="Arial"/>
                <a:cs typeface="Arial"/>
              </a:rPr>
              <a:t> für Ford </a:t>
            </a:r>
            <a:r>
              <a:rPr lang="en-US" sz="2000" b="1" dirty="0" err="1">
                <a:solidFill>
                  <a:schemeClr val="accent1"/>
                </a:solidFill>
                <a:latin typeface="Arial"/>
                <a:cs typeface="Arial"/>
              </a:rPr>
              <a:t>Ausbildungsprogramme</a:t>
            </a:r>
            <a:endParaRPr lang="en-US" sz="2000" b="1" dirty="0">
              <a:solidFill>
                <a:schemeClr val="accent1"/>
              </a:solidFill>
              <a:latin typeface="Arial"/>
              <a:cs typeface="Arial"/>
            </a:endParaRPr>
          </a:p>
          <a:p>
            <a:r>
              <a:rPr lang="de-DE" sz="2000" i="1" dirty="0"/>
              <a:t>Trotz technisch guter Lösung:</a:t>
            </a:r>
            <a:endParaRPr lang="en-US" sz="2000" i="1" dirty="0">
              <a:latin typeface="Arial"/>
              <a:cs typeface="Arial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/>
                <a:cs typeface="Arial"/>
              </a:rPr>
              <a:t>Compliance- und </a:t>
            </a:r>
            <a:r>
              <a:rPr lang="en-US" sz="2000" dirty="0" err="1">
                <a:latin typeface="Arial"/>
                <a:cs typeface="Arial"/>
              </a:rPr>
              <a:t>Ethikrisiken</a:t>
            </a:r>
            <a:r>
              <a:rPr lang="en-US" sz="2000" dirty="0">
                <a:latin typeface="Arial"/>
                <a:cs typeface="Arial"/>
              </a:rPr>
              <a:t> (z. B. </a:t>
            </a:r>
            <a:r>
              <a:rPr lang="en-US" sz="2000" dirty="0" err="1">
                <a:latin typeface="Arial"/>
                <a:cs typeface="Arial"/>
              </a:rPr>
              <a:t>Datenschutz</a:t>
            </a:r>
            <a:r>
              <a:rPr lang="en-US" sz="2000" dirty="0">
                <a:latin typeface="Arial"/>
                <a:cs typeface="Arial"/>
              </a:rPr>
              <a:t>, </a:t>
            </a:r>
            <a:r>
              <a:rPr lang="en-US" sz="2000" dirty="0" err="1">
                <a:latin typeface="Arial"/>
                <a:cs typeface="Arial"/>
              </a:rPr>
              <a:t>Diskriminierung</a:t>
            </a:r>
            <a:r>
              <a:rPr lang="en-US" sz="2000" dirty="0">
                <a:latin typeface="Arial"/>
                <a:cs typeface="Arial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Arial"/>
                <a:cs typeface="Arial"/>
              </a:rPr>
              <a:t>Candidate Experience und </a:t>
            </a:r>
            <a:r>
              <a:rPr lang="en-US" sz="2000" dirty="0" err="1">
                <a:latin typeface="Arial"/>
                <a:cs typeface="Arial"/>
              </a:rPr>
              <a:t>Arbeitgeberimage</a:t>
            </a:r>
            <a:endParaRPr lang="en-US" sz="2000" dirty="0">
              <a:latin typeface="Arial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Arial"/>
                <a:cs typeface="Arial"/>
              </a:rPr>
              <a:t>Abbruchquoten</a:t>
            </a:r>
            <a:r>
              <a:rPr lang="en-US" sz="2000" dirty="0">
                <a:latin typeface="Arial"/>
                <a:cs typeface="Arial"/>
              </a:rPr>
              <a:t> </a:t>
            </a:r>
            <a:r>
              <a:rPr lang="en-US" sz="2000" dirty="0" err="1">
                <a:latin typeface="Arial"/>
                <a:cs typeface="Arial"/>
              </a:rPr>
              <a:t>im</a:t>
            </a:r>
            <a:r>
              <a:rPr lang="en-US" sz="2000" dirty="0">
                <a:latin typeface="Arial"/>
                <a:cs typeface="Arial"/>
              </a:rPr>
              <a:t> </a:t>
            </a:r>
            <a:r>
              <a:rPr lang="en-US" sz="2000" dirty="0" err="1">
                <a:latin typeface="Arial"/>
                <a:cs typeface="Arial"/>
              </a:rPr>
              <a:t>Prozess</a:t>
            </a:r>
            <a:endParaRPr lang="en-US" sz="2000" dirty="0">
              <a:latin typeface="Arial"/>
              <a:cs typeface="Arial"/>
            </a:endParaRPr>
          </a:p>
        </p:txBody>
      </p:sp>
      <p:pic>
        <p:nvPicPr>
          <p:cNvPr id="23" name="Grafik 22" descr="Kreis mit Pfeil nach links mit einfarbiger Füllung">
            <a:extLst>
              <a:ext uri="{FF2B5EF4-FFF2-40B4-BE49-F238E27FC236}">
                <a16:creationId xmlns:a16="http://schemas.microsoft.com/office/drawing/2014/main" id="{BE38F103-CE5D-2F13-D7E1-6E39A3EB6D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0800000">
            <a:off x="521342" y="3442698"/>
            <a:ext cx="589327" cy="610299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F783C55D-C752-240C-8B99-F2F3F7056434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EEAD968B-DDBD-1754-36D9-F6D280469689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26" name="Fußzeilenplatzhalter 2">
            <a:extLst>
              <a:ext uri="{FF2B5EF4-FFF2-40B4-BE49-F238E27FC236}">
                <a16:creationId xmlns:a16="http://schemas.microsoft.com/office/drawing/2014/main" id="{55DC37EC-F139-1924-7231-09C18A8C1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1. Kontext &amp; Praxisproblem</a:t>
            </a:r>
          </a:p>
          <a:p>
            <a:pPr>
              <a:defRPr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1641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37E58D9-D904-ACAD-DE19-0295F819B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A7265619-096F-D488-CB2D-57DF83421F4A}"/>
              </a:ext>
            </a:extLst>
          </p:cNvPr>
          <p:cNvSpPr/>
          <p:nvPr/>
        </p:nvSpPr>
        <p:spPr>
          <a:xfrm>
            <a:off x="654" y="4841076"/>
            <a:ext cx="6020318" cy="1264302"/>
          </a:xfrm>
          <a:prstGeom prst="rect">
            <a:avLst/>
          </a:prstGeom>
          <a:solidFill>
            <a:srgbClr val="00998B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6ACF49B-E735-E94D-B076-D66FD5CB50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6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0B0952C-422E-5F21-3A3F-CBE660E81A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Praxisproblem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AB61B8B-33F3-ED9F-A82B-A9DB5D2E9ADC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Datumsplatzhalter 3">
            <a:extLst>
              <a:ext uri="{FF2B5EF4-FFF2-40B4-BE49-F238E27FC236}">
                <a16:creationId xmlns:a16="http://schemas.microsoft.com/office/drawing/2014/main" id="{1FDB15AD-3B4B-0820-885B-B3BA143154DD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993750C4-CB6B-0064-404E-06D699C117BC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BA7083C-1BE1-76F3-3948-C7A8FA029DE4}"/>
              </a:ext>
            </a:extLst>
          </p:cNvPr>
          <p:cNvGrpSpPr/>
          <p:nvPr/>
        </p:nvGrpSpPr>
        <p:grpSpPr>
          <a:xfrm>
            <a:off x="0" y="665003"/>
            <a:ext cx="4378392" cy="4396858"/>
            <a:chOff x="2080470" y="2007066"/>
            <a:chExt cx="4972574" cy="4993546"/>
          </a:xfrm>
        </p:grpSpPr>
        <p:pic>
          <p:nvPicPr>
            <p:cNvPr id="13" name="Grafik 12" descr="Monitor mit einfarbiger Füllung">
              <a:extLst>
                <a:ext uri="{FF2B5EF4-FFF2-40B4-BE49-F238E27FC236}">
                  <a16:creationId xmlns:a16="http://schemas.microsoft.com/office/drawing/2014/main" id="{6581091A-F03A-CC50-832D-289CB6B05E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80470" y="2007066"/>
              <a:ext cx="4972574" cy="4993546"/>
            </a:xfrm>
            <a:prstGeom prst="rect">
              <a:avLst/>
            </a:prstGeom>
          </p:spPr>
        </p:pic>
        <p:pic>
          <p:nvPicPr>
            <p:cNvPr id="12" name="Grafik 11" descr="Ein Bild, das Text, Screenshot, Auto, Fahrzeug enthält.&#10;&#10;KI-generierte Inhalte können fehlerhaft sein.">
              <a:extLst>
                <a:ext uri="{FF2B5EF4-FFF2-40B4-BE49-F238E27FC236}">
                  <a16:creationId xmlns:a16="http://schemas.microsoft.com/office/drawing/2014/main" id="{CEEC7E19-E5D8-75E7-27D0-90B3064A8B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342" r="4113" b="-407"/>
            <a:stretch>
              <a:fillRect/>
            </a:stretch>
          </p:blipFill>
          <p:spPr>
            <a:xfrm>
              <a:off x="2684477" y="2907771"/>
              <a:ext cx="3765344" cy="2594440"/>
            </a:xfrm>
            <a:prstGeom prst="rect">
              <a:avLst/>
            </a:prstGeom>
          </p:spPr>
        </p:pic>
      </p:grpSp>
      <p:sp>
        <p:nvSpPr>
          <p:cNvPr id="11" name="Textfeld 10">
            <a:extLst>
              <a:ext uri="{FF2B5EF4-FFF2-40B4-BE49-F238E27FC236}">
                <a16:creationId xmlns:a16="http://schemas.microsoft.com/office/drawing/2014/main" id="{E992D47B-DF65-4E05-3E68-9D9993447F60}"/>
              </a:ext>
            </a:extLst>
          </p:cNvPr>
          <p:cNvSpPr txBox="1"/>
          <p:nvPr/>
        </p:nvSpPr>
        <p:spPr bwMode="auto">
          <a:xfrm>
            <a:off x="4235212" y="1637883"/>
            <a:ext cx="4736874" cy="2000548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de-DE" b="1" i="0" dirty="0">
                <a:solidFill>
                  <a:srgbClr val="00998B"/>
                </a:solidFill>
                <a:effectLst/>
                <a:latin typeface="+mj-lt"/>
              </a:rPr>
              <a:t>Problem:</a:t>
            </a:r>
            <a:br>
              <a:rPr lang="de-DE" b="1" i="0" dirty="0">
                <a:solidFill>
                  <a:srgbClr val="00998B"/>
                </a:solidFill>
                <a:effectLst/>
                <a:latin typeface="+mj-lt"/>
              </a:rPr>
            </a:br>
            <a:r>
              <a:rPr lang="de-DE" sz="2000" b="0" i="0" dirty="0">
                <a:solidFill>
                  <a:srgbClr val="374151"/>
                </a:solidFill>
                <a:effectLst/>
                <a:latin typeface="+mj-lt"/>
              </a:rPr>
              <a:t>Bewerbende könnten KI-Auswahl als unfair oder intransparent wahrnehmen</a:t>
            </a:r>
          </a:p>
          <a:p>
            <a:r>
              <a:rPr lang="de-DE" sz="2000" b="1" dirty="0">
                <a:solidFill>
                  <a:srgbClr val="00998B"/>
                </a:solidFill>
                <a:latin typeface="+mj-lt"/>
              </a:rPr>
              <a:t>   →</a:t>
            </a:r>
            <a:r>
              <a:rPr lang="de-DE" sz="2000" dirty="0">
                <a:solidFill>
                  <a:srgbClr val="374151"/>
                </a:solidFill>
                <a:latin typeface="+mj-lt"/>
              </a:rPr>
              <a:t> geringere Akzeptanz</a:t>
            </a:r>
          </a:p>
          <a:p>
            <a:r>
              <a:rPr lang="de-DE" sz="2000" b="1" dirty="0">
                <a:solidFill>
                  <a:srgbClr val="00998B"/>
                </a:solidFill>
                <a:latin typeface="+mj-lt"/>
              </a:rPr>
              <a:t>   → </a:t>
            </a:r>
            <a:r>
              <a:rPr lang="de-DE" sz="2000" b="0" i="0" dirty="0">
                <a:solidFill>
                  <a:srgbClr val="374151"/>
                </a:solidFill>
                <a:effectLst/>
                <a:latin typeface="+mj-lt"/>
              </a:rPr>
              <a:t>Abbruch</a:t>
            </a:r>
          </a:p>
          <a:p>
            <a:r>
              <a:rPr lang="de-DE" sz="2000" b="1" dirty="0">
                <a:solidFill>
                  <a:srgbClr val="00998B"/>
                </a:solidFill>
                <a:latin typeface="+mj-lt"/>
              </a:rPr>
              <a:t>   → </a:t>
            </a:r>
            <a:r>
              <a:rPr lang="de-DE" sz="2000" b="0" i="0" dirty="0">
                <a:solidFill>
                  <a:srgbClr val="374151"/>
                </a:solidFill>
                <a:effectLst/>
                <a:latin typeface="+mj-lt"/>
              </a:rPr>
              <a:t>negative Mundpropaganda</a:t>
            </a:r>
            <a:endParaRPr lang="de-DE" sz="2000" dirty="0">
              <a:solidFill>
                <a:srgbClr val="374151"/>
              </a:solidFill>
              <a:latin typeface="+mj-lt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06CD952-C96C-E71A-D7D3-9E9CE17B26ED}"/>
              </a:ext>
            </a:extLst>
          </p:cNvPr>
          <p:cNvSpPr txBox="1"/>
          <p:nvPr/>
        </p:nvSpPr>
        <p:spPr bwMode="auto">
          <a:xfrm>
            <a:off x="109804" y="4854724"/>
            <a:ext cx="5791594" cy="1200329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algn="l"/>
            <a:r>
              <a:rPr lang="de-DE" b="1" i="0" dirty="0">
                <a:solidFill>
                  <a:schemeClr val="bg1"/>
                </a:solidFill>
                <a:effectLst/>
                <a:latin typeface="+mj-lt"/>
              </a:rPr>
              <a:t>Forschungsbedarf</a:t>
            </a:r>
            <a:br>
              <a:rPr lang="de-DE" b="1" dirty="0">
                <a:solidFill>
                  <a:schemeClr val="bg1"/>
                </a:solidFill>
                <a:latin typeface="+mj-lt"/>
              </a:rPr>
            </a:br>
            <a:r>
              <a:rPr lang="de-DE" b="0" i="0" dirty="0">
                <a:solidFill>
                  <a:schemeClr val="bg1"/>
                </a:solidFill>
                <a:effectLst/>
                <a:latin typeface="+mj-lt"/>
              </a:rPr>
              <a:t>Welche Faktoren beeinflussen Akzeptanz und Fairnesswahrnehmung?</a:t>
            </a:r>
          </a:p>
        </p:txBody>
      </p:sp>
      <p:sp>
        <p:nvSpPr>
          <p:cNvPr id="20" name="Fußzeilenplatzhalter 2">
            <a:extLst>
              <a:ext uri="{FF2B5EF4-FFF2-40B4-BE49-F238E27FC236}">
                <a16:creationId xmlns:a16="http://schemas.microsoft.com/office/drawing/2014/main" id="{3DDABEF0-A499-171D-6A43-B4C27B930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1. Kontext &amp; Praxisproblem</a:t>
            </a:r>
          </a:p>
          <a:p>
            <a:pPr>
              <a:defRPr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203161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D8375D-2072-9A6D-1F99-AEBB1FB62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B787C8E-9B03-093A-6F8B-58541B74F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7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84B93D76-95C8-FD86-123E-48B883D22D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BCDCA2BE-BFCC-06B7-2BB8-14FAA736F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03672"/>
            <a:ext cx="9144000" cy="1326883"/>
          </a:xfrm>
        </p:spPr>
        <p:txBody>
          <a:bodyPr/>
          <a:lstStyle/>
          <a:p>
            <a:pPr algn="ctr"/>
            <a:r>
              <a:rPr lang="de-DE" sz="4000" dirty="0"/>
              <a:t>2. Stand der Forschung &amp; Forschungslücke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584E3A61-A75A-1FC1-99BC-232E6FCA6F30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6ECE2EA3-99EB-4D9D-E345-20593CE38203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6EA3B94-CA51-F1EA-D261-623E52D44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</p:spTree>
    <p:extLst>
      <p:ext uri="{BB962C8B-B14F-4D97-AF65-F5344CB8AC3E}">
        <p14:creationId xmlns:p14="http://schemas.microsoft.com/office/powerpoint/2010/main" val="398539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16BB62-AB2F-FEE6-106B-2534E0B4C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4B201D1-B0D9-6A2C-0D92-9F3D9095E3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3053EF4-B1CA-396D-F845-BB4AFF9D24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C511531A-AB8B-5773-950E-B5679E9373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03672"/>
            <a:ext cx="9144000" cy="1326883"/>
          </a:xfrm>
        </p:spPr>
        <p:txBody>
          <a:bodyPr/>
          <a:lstStyle/>
          <a:p>
            <a:pPr algn="ctr"/>
            <a:r>
              <a:rPr lang="de-DE" sz="4000" dirty="0"/>
              <a:t>2. Stand der Forschung &amp; Forschungslücke</a:t>
            </a:r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F9490648-4AA2-BB22-576A-B78B9B723228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255697CD-033F-62D3-01C9-B5A3374BD016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9E542FE-CFA6-521F-105E-5FEB087B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</p:spTree>
    <p:extLst>
      <p:ext uri="{BB962C8B-B14F-4D97-AF65-F5344CB8AC3E}">
        <p14:creationId xmlns:p14="http://schemas.microsoft.com/office/powerpoint/2010/main" val="3950871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67560E-2272-5AC2-5A52-854166A0F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CB0789DE-6C76-250F-55A2-26A9C239CA28}"/>
              </a:ext>
            </a:extLst>
          </p:cNvPr>
          <p:cNvSpPr/>
          <p:nvPr/>
        </p:nvSpPr>
        <p:spPr>
          <a:xfrm>
            <a:off x="307076" y="4006506"/>
            <a:ext cx="5117910" cy="1425303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EBF76D2-F4D6-8126-0E91-7F5D412EBC82}"/>
              </a:ext>
            </a:extLst>
          </p:cNvPr>
          <p:cNvSpPr/>
          <p:nvPr/>
        </p:nvSpPr>
        <p:spPr>
          <a:xfrm>
            <a:off x="307075" y="2474298"/>
            <a:ext cx="8222776" cy="1323438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D65B7B9-C5A5-2F6E-FDC0-235A09D46E57}"/>
              </a:ext>
            </a:extLst>
          </p:cNvPr>
          <p:cNvSpPr/>
          <p:nvPr/>
        </p:nvSpPr>
        <p:spPr>
          <a:xfrm>
            <a:off x="307075" y="1157540"/>
            <a:ext cx="7895231" cy="1107988"/>
          </a:xfrm>
          <a:prstGeom prst="rect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4DEC04A-ABB3-9A1D-F3D7-E497600382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9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536CE7D-5CE0-B3F3-CD81-FC0B7A39D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>
                <a:cs typeface="Arial"/>
              </a:rPr>
              <a:t>Definitionen &amp; Abgrenzung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979CBAF-D5CB-571D-9CEC-62576FC7E352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3C79D11-DAA6-700B-25C9-1412CDF99A48}"/>
              </a:ext>
            </a:extLst>
          </p:cNvPr>
          <p:cNvSpPr txBox="1"/>
          <p:nvPr/>
        </p:nvSpPr>
        <p:spPr bwMode="auto">
          <a:xfrm>
            <a:off x="375315" y="1213517"/>
            <a:ext cx="7895231" cy="99603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000" b="1" dirty="0">
                <a:solidFill>
                  <a:schemeClr val="accent1"/>
                </a:solidFill>
                <a:latin typeface="Arial"/>
                <a:cs typeface="Arial"/>
              </a:rPr>
              <a:t>„KI-gestützte Auswahl“ (Arbeitsdefinition):</a:t>
            </a:r>
            <a:br>
              <a:rPr lang="de-DE" sz="2000" b="1" dirty="0">
                <a:solidFill>
                  <a:schemeClr val="accent1"/>
                </a:solidFill>
                <a:latin typeface="Arial"/>
                <a:cs typeface="Arial"/>
              </a:rPr>
            </a:br>
            <a:r>
              <a:rPr lang="de-DE" sz="2000" dirty="0">
                <a:latin typeface="Arial"/>
                <a:cs typeface="Arial"/>
              </a:rPr>
              <a:t>algorithmische Unterstützung bei der Vorauswahl von Bewerbenden (z.B. </a:t>
            </a:r>
            <a:r>
              <a:rPr lang="de-DE" sz="2000" dirty="0" err="1">
                <a:latin typeface="Arial"/>
                <a:cs typeface="Arial"/>
              </a:rPr>
              <a:t>Matching</a:t>
            </a:r>
            <a:r>
              <a:rPr lang="de-DE" sz="2000" dirty="0">
                <a:latin typeface="Arial"/>
                <a:cs typeface="Arial"/>
              </a:rPr>
              <a:t>, Scoring, Priorisierung)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B532D9DA-731C-B2F0-BC23-46156297D2C0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50A4FD05-21CE-C3A6-C482-994D9A38C98E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2FCF1A12-0062-E0C9-0AB0-E9B3A00B2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4EF2150-ACA9-5AEB-F5FF-4EEB1CD4DAA7}"/>
              </a:ext>
            </a:extLst>
          </p:cNvPr>
          <p:cNvSpPr txBox="1"/>
          <p:nvPr/>
        </p:nvSpPr>
        <p:spPr bwMode="auto">
          <a:xfrm>
            <a:off x="361664" y="2484847"/>
            <a:ext cx="8291016" cy="1323439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sz="2000" b="1" dirty="0">
                <a:solidFill>
                  <a:schemeClr val="accent1"/>
                </a:solidFill>
                <a:latin typeface="Arial"/>
                <a:cs typeface="Arial"/>
              </a:rPr>
              <a:t>Abgrenzung des Untersuchungsfokus:</a:t>
            </a:r>
            <a:br>
              <a:rPr lang="de-DE" sz="2000" b="1" dirty="0">
                <a:solidFill>
                  <a:schemeClr val="accent1"/>
                </a:solidFill>
                <a:latin typeface="Arial"/>
                <a:cs typeface="Arial"/>
              </a:rPr>
            </a:br>
            <a:r>
              <a:rPr lang="de-DE" sz="2000" dirty="0">
                <a:latin typeface="Arial"/>
                <a:cs typeface="Arial"/>
              </a:rPr>
              <a:t>KI in der Vorauswahl für Ausbildungsprogramme (frühe Prozessphase)</a:t>
            </a:r>
          </a:p>
          <a:p>
            <a:r>
              <a:rPr lang="de-DE" sz="2000" b="1" dirty="0">
                <a:solidFill>
                  <a:schemeClr val="accent1"/>
                </a:solidFill>
                <a:latin typeface="Arial"/>
                <a:cs typeface="Arial"/>
              </a:rPr>
              <a:t>explizit ausgeschlossen:</a:t>
            </a:r>
          </a:p>
          <a:p>
            <a:r>
              <a:rPr lang="de-DE" sz="2000" dirty="0">
                <a:latin typeface="Arial"/>
                <a:cs typeface="Arial"/>
              </a:rPr>
              <a:t>biometrische/emotionserkennende Videoanalyse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DB47431B-A7E1-5A8D-AB0C-CE2B0CEFC737}"/>
              </a:ext>
            </a:extLst>
          </p:cNvPr>
          <p:cNvSpPr txBox="1"/>
          <p:nvPr/>
        </p:nvSpPr>
        <p:spPr bwMode="auto">
          <a:xfrm>
            <a:off x="375315" y="4057437"/>
            <a:ext cx="5049671" cy="1323439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sz="2000" b="1" dirty="0">
                <a:solidFill>
                  <a:schemeClr val="accent1"/>
                </a:solidFill>
              </a:rPr>
              <a:t>Zentrale Vergleichsdimensionen:</a:t>
            </a:r>
            <a:br>
              <a:rPr lang="de-DE" sz="2000" b="1" dirty="0">
                <a:solidFill>
                  <a:schemeClr val="accent1"/>
                </a:solidFill>
              </a:rPr>
            </a:br>
            <a:r>
              <a:rPr lang="de-DE" sz="2000" dirty="0"/>
              <a:t>(für Interviews als Vignetten)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human-in-</a:t>
            </a:r>
            <a:r>
              <a:rPr lang="de-DE" sz="2000" dirty="0" err="1"/>
              <a:t>the</a:t>
            </a:r>
            <a:r>
              <a:rPr lang="de-DE" sz="2000" dirty="0"/>
              <a:t>-loop vs. vollautomatisiert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transparent/erklärbar vs. intransparent</a:t>
            </a:r>
          </a:p>
        </p:txBody>
      </p:sp>
    </p:spTree>
    <p:extLst>
      <p:ext uri="{BB962C8B-B14F-4D97-AF65-F5344CB8AC3E}">
        <p14:creationId xmlns:p14="http://schemas.microsoft.com/office/powerpoint/2010/main" val="1609416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026295-0354-E64F-FC38-D93408FA1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919AA8F6-EADB-4029-FB3A-47424BAD02CC}"/>
              </a:ext>
            </a:extLst>
          </p:cNvPr>
          <p:cNvSpPr/>
          <p:nvPr/>
        </p:nvSpPr>
        <p:spPr>
          <a:xfrm>
            <a:off x="0" y="1811951"/>
            <a:ext cx="9144000" cy="1037171"/>
          </a:xfrm>
          <a:prstGeom prst="rect">
            <a:avLst/>
          </a:prstGeom>
          <a:solidFill>
            <a:srgbClr val="00998B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00AD175-E5A3-7B00-EE3D-D32D159169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10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A13E50B0-CA5C-AA54-3245-4FC20CB766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Stand der Forschung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367EFD6-00A0-397C-C722-D2896A174CB5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B401E22C-1A6B-6E4C-AFDE-B55FB56F71EF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51E811FA-2554-BEF7-86C8-2E7BA290C6F1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D8DD4A3B-BE53-0A28-69BB-AD7EAA737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5CFF60E-3BC7-2EE3-BC00-893818BE946A}"/>
              </a:ext>
            </a:extLst>
          </p:cNvPr>
          <p:cNvSpPr txBox="1"/>
          <p:nvPr/>
        </p:nvSpPr>
        <p:spPr bwMode="auto">
          <a:xfrm>
            <a:off x="266349" y="997983"/>
            <a:ext cx="8611299" cy="707886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chemeClr val="accent1">
                    <a:lumMod val="75000"/>
                  </a:schemeClr>
                </a:solidFill>
              </a:rPr>
              <a:t>Erkenntnisse zu „Young Talent“ und „Entry-Level </a:t>
            </a:r>
            <a:r>
              <a:rPr lang="de-DE" sz="2000" b="1" dirty="0" err="1">
                <a:solidFill>
                  <a:schemeClr val="accent1">
                    <a:lumMod val="75000"/>
                  </a:schemeClr>
                </a:solidFill>
              </a:rPr>
              <a:t>Applicants</a:t>
            </a:r>
            <a:r>
              <a:rPr lang="de-DE" sz="2000" b="1" dirty="0">
                <a:solidFill>
                  <a:schemeClr val="accent1">
                    <a:lumMod val="75000"/>
                  </a:schemeClr>
                </a:solidFill>
              </a:rPr>
              <a:t>“</a:t>
            </a:r>
            <a:br>
              <a:rPr lang="de-DE" sz="2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de-DE" sz="2000" dirty="0">
                <a:solidFill>
                  <a:schemeClr val="accent1">
                    <a:lumMod val="75000"/>
                  </a:schemeClr>
                </a:solidFill>
              </a:rPr>
              <a:t>(Überschneidung mit Zielgruppe der Auszubildenden):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9519CCD8-596A-82E8-8868-CDDDC366FBE4}"/>
              </a:ext>
            </a:extLst>
          </p:cNvPr>
          <p:cNvSpPr txBox="1"/>
          <p:nvPr/>
        </p:nvSpPr>
        <p:spPr bwMode="auto">
          <a:xfrm>
            <a:off x="671498" y="3059329"/>
            <a:ext cx="5944901" cy="2343655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de-DE" sz="2000" b="1" dirty="0"/>
              <a:t>Was trauen junge Bewerber*innen KI zu?</a:t>
            </a:r>
            <a:br>
              <a:rPr lang="de-DE" sz="2000" dirty="0"/>
            </a:br>
            <a:r>
              <a:rPr lang="de-DE" sz="2000" dirty="0"/>
              <a:t>      technische Analysen (z.B. CV-</a:t>
            </a:r>
            <a:r>
              <a:rPr lang="de-DE" sz="2000" dirty="0" err="1"/>
              <a:t>Parsing</a:t>
            </a:r>
            <a:r>
              <a:rPr lang="de-DE" sz="2000" dirty="0"/>
              <a:t>)</a:t>
            </a:r>
          </a:p>
          <a:p>
            <a:pPr>
              <a:lnSpc>
                <a:spcPct val="150000"/>
              </a:lnSpc>
            </a:pPr>
            <a:r>
              <a:rPr lang="de-DE" sz="2000" b="1" dirty="0">
                <a:solidFill>
                  <a:schemeClr val="accent1"/>
                </a:solidFill>
              </a:rPr>
              <a:t>      </a:t>
            </a:r>
            <a:r>
              <a:rPr lang="de-DE" sz="2000" dirty="0"/>
              <a:t>nicht die Bewertung von Soft Skills oder</a:t>
            </a:r>
            <a:br>
              <a:rPr lang="de-DE" sz="2000" dirty="0"/>
            </a:br>
            <a:r>
              <a:rPr lang="de-DE" sz="2000" dirty="0"/>
              <a:t>      Cultural Fit, die für Ausbildungsplätze oft</a:t>
            </a:r>
            <a:br>
              <a:rPr lang="de-DE" sz="2000" dirty="0"/>
            </a:br>
            <a:r>
              <a:rPr lang="de-DE" sz="2000" dirty="0"/>
              <a:t>      entscheidend sind</a:t>
            </a:r>
          </a:p>
        </p:txBody>
      </p:sp>
      <p:pic>
        <p:nvPicPr>
          <p:cNvPr id="30" name="Grafik 29" descr="Marke Kreuz mit einfarbiger Füllung">
            <a:extLst>
              <a:ext uri="{FF2B5EF4-FFF2-40B4-BE49-F238E27FC236}">
                <a16:creationId xmlns:a16="http://schemas.microsoft.com/office/drawing/2014/main" id="{36F99791-B950-F814-2863-572C3E1D8D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604" y="4118750"/>
            <a:ext cx="351430" cy="351430"/>
          </a:xfrm>
          <a:prstGeom prst="rect">
            <a:avLst/>
          </a:prstGeom>
        </p:spPr>
      </p:pic>
      <p:pic>
        <p:nvPicPr>
          <p:cNvPr id="32" name="Grafik 31" descr="Abzeichen Tick1 mit einfarbiger Füllung">
            <a:extLst>
              <a:ext uri="{FF2B5EF4-FFF2-40B4-BE49-F238E27FC236}">
                <a16:creationId xmlns:a16="http://schemas.microsoft.com/office/drawing/2014/main" id="{1B513188-CC61-5AB0-F421-BB649FF627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604" y="3641460"/>
            <a:ext cx="351430" cy="351430"/>
          </a:xfrm>
          <a:prstGeom prst="rect">
            <a:avLst/>
          </a:prstGeom>
        </p:spPr>
      </p:pic>
      <p:sp>
        <p:nvSpPr>
          <p:cNvPr id="34" name="Textfeld 33">
            <a:extLst>
              <a:ext uri="{FF2B5EF4-FFF2-40B4-BE49-F238E27FC236}">
                <a16:creationId xmlns:a16="http://schemas.microsoft.com/office/drawing/2014/main" id="{10A933D8-36F9-83F1-1F05-790BD3530352}"/>
              </a:ext>
            </a:extLst>
          </p:cNvPr>
          <p:cNvSpPr txBox="1"/>
          <p:nvPr/>
        </p:nvSpPr>
        <p:spPr bwMode="auto">
          <a:xfrm>
            <a:off x="266350" y="1833459"/>
            <a:ext cx="8611299" cy="101566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sz="2000" b="0" i="1" dirty="0">
                <a:solidFill>
                  <a:schemeClr val="bg1"/>
                </a:solidFill>
                <a:effectLst/>
                <a:latin typeface="+mj-lt"/>
              </a:rPr>
              <a:t>Mirowska, A. &amp; </a:t>
            </a:r>
            <a:r>
              <a:rPr lang="en-US" sz="2000" b="0" i="1" dirty="0" err="1">
                <a:solidFill>
                  <a:schemeClr val="bg1"/>
                </a:solidFill>
                <a:effectLst/>
                <a:latin typeface="+mj-lt"/>
              </a:rPr>
              <a:t>Mesnet</a:t>
            </a:r>
            <a:r>
              <a:rPr lang="en-US" sz="2000" b="0" i="1" dirty="0">
                <a:solidFill>
                  <a:schemeClr val="bg1"/>
                </a:solidFill>
                <a:effectLst/>
                <a:latin typeface="+mj-lt"/>
              </a:rPr>
              <a:t>, L. (2022).</a:t>
            </a:r>
            <a:r>
              <a:rPr lang="en-US" sz="2000" b="0" dirty="0">
                <a:solidFill>
                  <a:schemeClr val="bg1"/>
                </a:solidFill>
                <a:effectLst/>
                <a:latin typeface="+mj-lt"/>
              </a:rPr>
              <a:t> Preferring the devil I know: Potential applicant reactions to artificial intelligence evaluation of interviews. Human Resource Management Journal, 32(4), 864–883.</a:t>
            </a:r>
            <a:endParaRPr lang="de-DE" sz="20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40901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FC21B1-06BC-8D93-9ABF-338F56AD3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5AAD67A0-133F-6F49-7557-E6F5BAF50E5D}"/>
              </a:ext>
            </a:extLst>
          </p:cNvPr>
          <p:cNvSpPr/>
          <p:nvPr/>
        </p:nvSpPr>
        <p:spPr>
          <a:xfrm>
            <a:off x="0" y="1811951"/>
            <a:ext cx="9144000" cy="1037171"/>
          </a:xfrm>
          <a:prstGeom prst="rect">
            <a:avLst/>
          </a:prstGeom>
          <a:solidFill>
            <a:srgbClr val="00998B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dirty="0" err="1">
              <a:solidFill>
                <a:schemeClr val="tx1"/>
              </a:solidFill>
            </a:endParaRP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8272DD5-BB48-F317-5CCB-83B163B2E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11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43F6E48-6292-C931-AB20-94B25FD523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Stand der Forschung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E03E441-3365-AB4B-D0FD-3C747EC48540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66A63FEC-6F80-844D-07D7-6AFC0131C09E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F6F727BE-E493-76EA-146E-228AF5A0DDDE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90455713-0D93-D686-6C72-A5DD7EF31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1C441F6-7248-0171-78CF-B04B1E55802E}"/>
              </a:ext>
            </a:extLst>
          </p:cNvPr>
          <p:cNvSpPr txBox="1"/>
          <p:nvPr/>
        </p:nvSpPr>
        <p:spPr bwMode="auto">
          <a:xfrm>
            <a:off x="266349" y="997983"/>
            <a:ext cx="8611299" cy="707886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algn="ctr"/>
            <a:r>
              <a:rPr lang="de-DE" sz="2000" b="1" dirty="0">
                <a:solidFill>
                  <a:schemeClr val="accent1">
                    <a:lumMod val="75000"/>
                  </a:schemeClr>
                </a:solidFill>
              </a:rPr>
              <a:t>Erkenntnisse zu „Young Talent“ und „Entry-Level </a:t>
            </a:r>
            <a:r>
              <a:rPr lang="de-DE" sz="2000" b="1" dirty="0" err="1">
                <a:solidFill>
                  <a:schemeClr val="accent1">
                    <a:lumMod val="75000"/>
                  </a:schemeClr>
                </a:solidFill>
              </a:rPr>
              <a:t>Applicants</a:t>
            </a:r>
            <a:r>
              <a:rPr lang="de-DE" sz="2000" b="1" dirty="0">
                <a:solidFill>
                  <a:schemeClr val="accent1">
                    <a:lumMod val="75000"/>
                  </a:schemeClr>
                </a:solidFill>
              </a:rPr>
              <a:t>“</a:t>
            </a:r>
            <a:br>
              <a:rPr lang="de-DE" sz="2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de-DE" sz="2000" dirty="0">
                <a:solidFill>
                  <a:schemeClr val="accent1">
                    <a:lumMod val="75000"/>
                  </a:schemeClr>
                </a:solidFill>
              </a:rPr>
              <a:t>(Überschneidung mit Zielgruppe der Auszubildenden):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D1DC985D-FC03-F04B-E78C-5413A7CC15D0}"/>
              </a:ext>
            </a:extLst>
          </p:cNvPr>
          <p:cNvSpPr txBox="1"/>
          <p:nvPr/>
        </p:nvSpPr>
        <p:spPr bwMode="auto">
          <a:xfrm>
            <a:off x="266349" y="3113921"/>
            <a:ext cx="8611299" cy="40011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sz="2000" b="1" dirty="0"/>
              <a:t>„</a:t>
            </a:r>
            <a:r>
              <a:rPr lang="de-DE" sz="2000" b="1" dirty="0" err="1"/>
              <a:t>Opportunity</a:t>
            </a:r>
            <a:r>
              <a:rPr lang="de-DE" sz="2000" b="1" dirty="0"/>
              <a:t> </a:t>
            </a:r>
            <a:r>
              <a:rPr lang="de-DE" sz="2000" b="1" dirty="0" err="1"/>
              <a:t>to</a:t>
            </a:r>
            <a:r>
              <a:rPr lang="de-DE" sz="2000" b="1" dirty="0"/>
              <a:t> Perform“ als wichtigster Treiber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6BF7B09-E39B-D2B2-1637-A68BE318F065}"/>
              </a:ext>
            </a:extLst>
          </p:cNvPr>
          <p:cNvSpPr txBox="1"/>
          <p:nvPr/>
        </p:nvSpPr>
        <p:spPr bwMode="auto">
          <a:xfrm>
            <a:off x="266350" y="1833459"/>
            <a:ext cx="8611299" cy="1015663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sz="2000" b="0" i="1" dirty="0" err="1">
                <a:solidFill>
                  <a:schemeClr val="bg1"/>
                </a:solidFill>
                <a:effectLst/>
                <a:latin typeface="+mj-lt"/>
              </a:rPr>
              <a:t>Köchling</a:t>
            </a:r>
            <a:r>
              <a:rPr lang="en-US" sz="2000" b="0" i="1" dirty="0">
                <a:solidFill>
                  <a:schemeClr val="bg1"/>
                </a:solidFill>
                <a:effectLst/>
                <a:latin typeface="+mj-lt"/>
              </a:rPr>
              <a:t>, A., Wehner, M. C., &amp; </a:t>
            </a:r>
            <a:r>
              <a:rPr lang="en-US" sz="2000" b="0" i="1" dirty="0" err="1">
                <a:solidFill>
                  <a:schemeClr val="bg1"/>
                </a:solidFill>
                <a:effectLst/>
                <a:latin typeface="+mj-lt"/>
              </a:rPr>
              <a:t>Warkocz</a:t>
            </a:r>
            <a:r>
              <a:rPr lang="en-US" sz="2000" b="0" i="1" dirty="0">
                <a:solidFill>
                  <a:schemeClr val="bg1"/>
                </a:solidFill>
                <a:effectLst/>
                <a:latin typeface="+mj-lt"/>
              </a:rPr>
              <a:t>, J. </a:t>
            </a:r>
            <a:r>
              <a:rPr lang="en-US" sz="2000" dirty="0">
                <a:solidFill>
                  <a:schemeClr val="bg1"/>
                </a:solidFill>
                <a:effectLst/>
                <a:latin typeface="+mj-lt"/>
              </a:rPr>
              <a:t>(2023). Can I show my skills? Affective responses to artificial intelligence in the recruitment process. Review of Managerial Science, 17, 2109–2138</a:t>
            </a:r>
            <a:endParaRPr lang="de-DE" sz="2000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7" name="Grafik 6" descr="Kreis mit Pfeil nach links mit einfarbiger Füllung">
            <a:extLst>
              <a:ext uri="{FF2B5EF4-FFF2-40B4-BE49-F238E27FC236}">
                <a16:creationId xmlns:a16="http://schemas.microsoft.com/office/drawing/2014/main" id="{DAF75E63-B534-5E9E-4C7D-2EC2D1579C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543858" y="3590483"/>
            <a:ext cx="312947" cy="324084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88D341AF-82B5-2461-43C9-907C7C53536E}"/>
              </a:ext>
            </a:extLst>
          </p:cNvPr>
          <p:cNvSpPr txBox="1"/>
          <p:nvPr/>
        </p:nvSpPr>
        <p:spPr bwMode="auto">
          <a:xfrm>
            <a:off x="811786" y="3552065"/>
            <a:ext cx="6271405" cy="1631216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sz="2000" dirty="0"/>
              <a:t>KI-gestützte Videointerviews oft als </a:t>
            </a:r>
            <a:r>
              <a:rPr lang="de-DE" sz="2000" b="1" dirty="0">
                <a:solidFill>
                  <a:srgbClr val="00998B"/>
                </a:solidFill>
              </a:rPr>
              <a:t>unfair</a:t>
            </a:r>
            <a:r>
              <a:rPr lang="de-DE" sz="2000" dirty="0"/>
              <a:t> empfunden</a:t>
            </a:r>
          </a:p>
          <a:p>
            <a:r>
              <a:rPr lang="de-DE" sz="2000" b="1" dirty="0">
                <a:solidFill>
                  <a:srgbClr val="00998B"/>
                </a:solidFill>
              </a:rPr>
              <a:t>Verunsicherung</a:t>
            </a:r>
            <a:r>
              <a:rPr lang="de-DE" sz="2000" dirty="0"/>
              <a:t> durch fehlendes direktes Feedback (Nicken, Lächeln eines </a:t>
            </a:r>
            <a:r>
              <a:rPr lang="de-DE" sz="2000" dirty="0" err="1"/>
              <a:t>Recruiters</a:t>
            </a:r>
            <a:r>
              <a:rPr lang="de-DE" sz="2000" dirty="0"/>
              <a:t>)</a:t>
            </a:r>
          </a:p>
          <a:p>
            <a:r>
              <a:rPr lang="de-DE" sz="2000" dirty="0"/>
              <a:t>Gefühl, ihre </a:t>
            </a:r>
            <a:r>
              <a:rPr lang="de-DE" sz="2000" b="1" dirty="0">
                <a:solidFill>
                  <a:srgbClr val="00998B"/>
                </a:solidFill>
              </a:rPr>
              <a:t>Persönlichkeit nicht transportieren </a:t>
            </a:r>
            <a:r>
              <a:rPr lang="de-DE" sz="2000" dirty="0"/>
              <a:t>zu können</a:t>
            </a:r>
          </a:p>
        </p:txBody>
      </p:sp>
      <p:pic>
        <p:nvPicPr>
          <p:cNvPr id="14" name="Grafik 13" descr="Kreis mit Pfeil nach links mit einfarbiger Füllung">
            <a:extLst>
              <a:ext uri="{FF2B5EF4-FFF2-40B4-BE49-F238E27FC236}">
                <a16:creationId xmlns:a16="http://schemas.microsoft.com/office/drawing/2014/main" id="{ED4E54D7-446F-989D-87A8-D8284CBF8A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542701" y="3895117"/>
            <a:ext cx="312947" cy="324084"/>
          </a:xfrm>
          <a:prstGeom prst="rect">
            <a:avLst/>
          </a:prstGeom>
        </p:spPr>
      </p:pic>
      <p:pic>
        <p:nvPicPr>
          <p:cNvPr id="15" name="Grafik 14" descr="Kreis mit Pfeil nach links mit einfarbiger Füllung">
            <a:extLst>
              <a:ext uri="{FF2B5EF4-FFF2-40B4-BE49-F238E27FC236}">
                <a16:creationId xmlns:a16="http://schemas.microsoft.com/office/drawing/2014/main" id="{FBD0135A-5938-67F1-CC3C-3C773B66B2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542701" y="4500699"/>
            <a:ext cx="312947" cy="324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000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423D7-05E7-B5EE-DADB-AE393D84C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5BF4BB-9BF2-9B7B-94BA-0270BCA37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8A3BA59-789B-C46A-1241-9226F8139F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Forschungslücke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70D4A47-CE28-58CA-63B4-F35BFCCA09DB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FC24771A-B4AD-4A24-DE16-DC0A07569D65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3E14C787-ED86-083C-52B5-42EFD613D28E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1B0D3015-8637-4A77-8200-9A3716EE5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de-DE" dirty="0"/>
              <a:t>2. Stand der Forschung &amp; Forschungslücke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77A402B-B181-DB24-77AC-2EE1C022B912}"/>
              </a:ext>
            </a:extLst>
          </p:cNvPr>
          <p:cNvSpPr txBox="1"/>
          <p:nvPr/>
        </p:nvSpPr>
        <p:spPr bwMode="auto">
          <a:xfrm>
            <a:off x="266351" y="1015075"/>
            <a:ext cx="8611298" cy="3785652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de-DE" sz="2000" dirty="0"/>
              <a:t>Viele Studien betrachten Bewerbende allgemein, aber weniger spezifisch Ausbildungsbewerbende (Erfahrung, Alter, Informationsstand) Da es kaum Studien gibt, die ausschließlich Auszubildende untersuchen, wird hier auf Erkenntnisse zu „Young Talent“ / „Entry-Level </a:t>
            </a:r>
            <a:r>
              <a:rPr lang="de-DE" sz="2000" dirty="0" err="1"/>
              <a:t>Applicants</a:t>
            </a:r>
            <a:r>
              <a:rPr lang="de-DE" sz="2000" dirty="0"/>
              <a:t>“ (Generation Z) zurückgegriffen, da diese deckungsgleich mit der Zielgruppe der Auszubildenden sind.</a:t>
            </a:r>
          </a:p>
          <a:p>
            <a:endParaRPr lang="de-DE" sz="2000" dirty="0"/>
          </a:p>
          <a:p>
            <a:r>
              <a:rPr lang="de-DE" sz="2000" dirty="0"/>
              <a:t>Häufig quantitative Messung → weniger Tiefe, warum etwas als unfair empfunden wird</a:t>
            </a:r>
          </a:p>
          <a:p>
            <a:r>
              <a:rPr lang="de-DE" sz="2000" dirty="0"/>
              <a:t>Praxislücke: Welche konkreten Gestaltungs- und Kommunikationsmaßnahmen erhöhen Fairnesswahrnehmung im realen Bewerbungsprozess?</a:t>
            </a:r>
          </a:p>
        </p:txBody>
      </p:sp>
    </p:spTree>
    <p:extLst>
      <p:ext uri="{BB962C8B-B14F-4D97-AF65-F5344CB8AC3E}">
        <p14:creationId xmlns:p14="http://schemas.microsoft.com/office/powerpoint/2010/main" val="342983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23978-7275-9B5B-6B68-BB9B16605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3CECE7C5-C035-CA49-13C7-A3B64D2441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13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2D3E27E-3BDF-EAD1-D102-711BF74784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 err="1"/>
              <a:t>Methodik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Forschungsfrage</a:t>
            </a:r>
            <a:r>
              <a:rPr lang="en-GB" dirty="0"/>
              <a:t> 2</a:t>
            </a:r>
            <a:endParaRPr lang="de-DE" dirty="0"/>
          </a:p>
        </p:txBody>
      </p:sp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B00C6509-AD7A-2142-3A59-9569FAB79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603672"/>
            <a:ext cx="9144000" cy="1326883"/>
          </a:xfrm>
        </p:spPr>
        <p:txBody>
          <a:bodyPr/>
          <a:lstStyle/>
          <a:p>
            <a:pPr algn="ctr"/>
            <a:r>
              <a:rPr lang="en-GB" sz="4000" dirty="0" err="1"/>
              <a:t>Methodik</a:t>
            </a:r>
            <a:r>
              <a:rPr lang="en-GB" sz="4000" dirty="0"/>
              <a:t> </a:t>
            </a:r>
            <a:r>
              <a:rPr lang="en-GB" sz="4000" dirty="0" err="1"/>
              <a:t>zu</a:t>
            </a:r>
            <a:r>
              <a:rPr lang="en-GB" sz="4000" dirty="0"/>
              <a:t> </a:t>
            </a:r>
            <a:r>
              <a:rPr lang="en-GB" sz="4000" dirty="0" err="1"/>
              <a:t>Forschungsfrage</a:t>
            </a:r>
            <a:r>
              <a:rPr lang="en-GB" sz="4000" dirty="0"/>
              <a:t> 2 - </a:t>
            </a:r>
            <a:r>
              <a:rPr lang="en-GB" sz="4000" dirty="0" err="1"/>
              <a:t>Nachhaltigkeit</a:t>
            </a:r>
            <a:r>
              <a:rPr lang="en-GB" sz="4000" dirty="0"/>
              <a:t> der </a:t>
            </a:r>
            <a:r>
              <a:rPr lang="en-GB" sz="4000" dirty="0" err="1"/>
              <a:t>Lerneffekte</a:t>
            </a:r>
            <a:endParaRPr lang="de-DE" sz="4000" dirty="0"/>
          </a:p>
        </p:txBody>
      </p:sp>
      <p:sp>
        <p:nvSpPr>
          <p:cNvPr id="9" name="Datumsplatzhalter 3">
            <a:extLst>
              <a:ext uri="{FF2B5EF4-FFF2-40B4-BE49-F238E27FC236}">
                <a16:creationId xmlns:a16="http://schemas.microsoft.com/office/drawing/2014/main" id="{66513486-D7DC-D303-D3F0-AC96C9E4F4E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fld id="{9338910D-6BF9-4DAD-BD39-5E8F1176E68E}" type="datetime1">
              <a:rPr lang="de-DE" smtClean="0"/>
              <a:t>12.01.2026</a:t>
            </a:fld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2A1276EB-A381-ACE0-680C-3F41AE2CD7AA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C2615AE-357F-4F9F-ACA8-41AE9DAAC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en-GB" dirty="0" err="1"/>
              <a:t>Forschungsfrage</a:t>
            </a:r>
            <a:r>
              <a:rPr lang="en-GB" dirty="0"/>
              <a:t>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7977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A956A-470B-3D6E-0608-759D161FA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CEDDA84-5FC0-D067-6AF9-4F965A637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14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2EEC7F02-11F6-9AF2-020C-9ACA102137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Methodik zu Forschungsfrage 2 - </a:t>
            </a:r>
            <a:r>
              <a:rPr lang="en-GB" dirty="0" err="1"/>
              <a:t>Nachhaltigkeit</a:t>
            </a:r>
            <a:r>
              <a:rPr lang="en-GB" dirty="0"/>
              <a:t> der </a:t>
            </a:r>
            <a:r>
              <a:rPr lang="en-GB" dirty="0" err="1"/>
              <a:t>Lerneffekte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28A9E4D-5AC2-F00B-80A6-4A3914E336AC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582371C-1FE0-0BC5-ACBF-56E17EE47A72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16115B3B-5D09-76B7-3026-2A3014E16F68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31.01.2026</a:t>
            </a:r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AE95F4BC-0879-83F4-FD5D-41551E1AA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en-GB" dirty="0" err="1"/>
              <a:t>Forschungsfrage</a:t>
            </a:r>
            <a:r>
              <a:rPr lang="en-GB" dirty="0"/>
              <a:t> 2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0522E8A-A49C-36E9-7996-7C2C899470EF}"/>
              </a:ext>
            </a:extLst>
          </p:cNvPr>
          <p:cNvSpPr txBox="1"/>
          <p:nvPr/>
        </p:nvSpPr>
        <p:spPr bwMode="auto">
          <a:xfrm>
            <a:off x="266351" y="1015075"/>
            <a:ext cx="8611298" cy="1938992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Forschungsfrage 2: Nachhaltigkeit der Lerneffekte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Longitudinales Forschungsdesign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Wiederholte Messung über die Zeit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Post-Test 2 nach X Wochen (z. B. 4–6)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Gleiche Stichprobe wie in FF1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Keine weitere Intervention</a:t>
            </a:r>
          </a:p>
        </p:txBody>
      </p:sp>
    </p:spTree>
    <p:extLst>
      <p:ext uri="{BB962C8B-B14F-4D97-AF65-F5344CB8AC3E}">
        <p14:creationId xmlns:p14="http://schemas.microsoft.com/office/powerpoint/2010/main" val="2892796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D3BCD-7127-A9FD-1073-737769AD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2BFBE16-7368-8D90-FFA6-82B5F5F332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15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E458F55-1C5E-0D55-1241-EDEF2F7736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 err="1"/>
              <a:t>Umsetzung</a:t>
            </a:r>
            <a:r>
              <a:rPr lang="en-GB" dirty="0"/>
              <a:t> &amp; </a:t>
            </a:r>
            <a:r>
              <a:rPr lang="en-GB" dirty="0" err="1"/>
              <a:t>Datenauswertung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1A79A88-3B9A-DC53-3D10-24828F6B406C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B800FDD4-B403-A3E2-D0D5-FFCA3B25CF0C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31.01.2026</a:t>
            </a:r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382C9F93-3D69-EBF3-1256-A4D6F909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en-GB" dirty="0" err="1"/>
              <a:t>Forschungsfrage</a:t>
            </a:r>
            <a:r>
              <a:rPr lang="en-GB" dirty="0"/>
              <a:t> 2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BB49553-4FA2-C950-D1A0-87D5544BDF63}"/>
              </a:ext>
            </a:extLst>
          </p:cNvPr>
          <p:cNvSpPr txBox="1"/>
          <p:nvPr/>
        </p:nvSpPr>
        <p:spPr bwMode="auto">
          <a:xfrm>
            <a:off x="266351" y="1015075"/>
            <a:ext cx="8611298" cy="2246769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Neues Set simulierter Phishing-E-Mails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Vermeidung von Wiedererkennungseffekten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Messgrößen: 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sz="2000" dirty="0"/>
              <a:t>Erkennungsrate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de-DE" sz="2000" dirty="0"/>
              <a:t>Klickrate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Optional: Selbstwirksamkeit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Statistische Auswertung: Mixed ANOVA</a:t>
            </a:r>
          </a:p>
        </p:txBody>
      </p:sp>
      <p:pic>
        <p:nvPicPr>
          <p:cNvPr id="2052" name="Picture 4" descr="What is phishing | Attack techniques &amp; scam examples | Imperva">
            <a:extLst>
              <a:ext uri="{FF2B5EF4-FFF2-40B4-BE49-F238E27FC236}">
                <a16:creationId xmlns:a16="http://schemas.microsoft.com/office/drawing/2014/main" id="{485857A7-5372-9B3F-491D-947AAD7BE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3941" y="1108405"/>
            <a:ext cx="3098718" cy="2155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5" name="Picture 7" descr="Train Your Office 365 Users Against Phishing Attacks using ...">
            <a:extLst>
              <a:ext uri="{FF2B5EF4-FFF2-40B4-BE49-F238E27FC236}">
                <a16:creationId xmlns:a16="http://schemas.microsoft.com/office/drawing/2014/main" id="{7D084893-ADA1-FBEF-CBC8-C9189752FE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6715" y="3792643"/>
            <a:ext cx="3098718" cy="224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3942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19111-FDE5-7AD1-39A4-BFF1698A1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C332D1C-06D3-6170-6874-FA087E8BA3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16</a:t>
            </a:fld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B94445E7-F081-5126-85B3-7B712A1FFF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 err="1"/>
              <a:t>Fazit</a:t>
            </a:r>
            <a:r>
              <a:rPr lang="en-GB" dirty="0"/>
              <a:t> &amp; </a:t>
            </a:r>
            <a:r>
              <a:rPr lang="en-GB" dirty="0" err="1"/>
              <a:t>Ausblick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731799A-0128-02A7-375B-906A5C6AA89B}"/>
              </a:ext>
            </a:extLst>
          </p:cNvPr>
          <p:cNvSpPr txBox="1"/>
          <p:nvPr/>
        </p:nvSpPr>
        <p:spPr bwMode="auto">
          <a:xfrm>
            <a:off x="6291943" y="2895600"/>
            <a:ext cx="0" cy="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vert="horz" wrap="none" lIns="36000" tIns="36000" rIns="36000" bIns="3600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23A092"/>
              </a:buClr>
              <a:buSzPct val="80000"/>
              <a:buFont typeface="Wingdings" pitchFamily="2" charset="2"/>
              <a:buNone/>
              <a:tabLst/>
            </a:pPr>
            <a:endParaRPr kumimoji="0" lang="de-DE" sz="1400" b="0" i="0" u="none" strike="noStrike" kern="0" cap="none" spc="0" normalizeH="0" baseline="0" noProof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213027E6-CD16-5541-581B-8AD037CFD9EA}"/>
              </a:ext>
            </a:extLst>
          </p:cNvPr>
          <p:cNvSpPr/>
          <p:nvPr/>
        </p:nvSpPr>
        <p:spPr>
          <a:xfrm>
            <a:off x="6854181" y="4442346"/>
            <a:ext cx="2023468" cy="20234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1">
                <a:lumMod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de-DE" sz="1800" err="1">
              <a:solidFill>
                <a:schemeClr val="tx1"/>
              </a:solidFill>
            </a:endParaRPr>
          </a:p>
        </p:txBody>
      </p:sp>
      <p:sp>
        <p:nvSpPr>
          <p:cNvPr id="5" name="Datumsplatzhalter 3">
            <a:extLst>
              <a:ext uri="{FF2B5EF4-FFF2-40B4-BE49-F238E27FC236}">
                <a16:creationId xmlns:a16="http://schemas.microsoft.com/office/drawing/2014/main" id="{2E3F0B3D-659C-B210-C219-DE9215E4B1F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543379" y="6575265"/>
            <a:ext cx="1524000" cy="283234"/>
          </a:xfrm>
        </p:spPr>
        <p:txBody>
          <a:bodyPr/>
          <a:lstStyle/>
          <a:p>
            <a:pPr>
              <a:defRPr/>
            </a:pPr>
            <a:r>
              <a:rPr lang="de-DE" dirty="0"/>
              <a:t>31.01.2026</a:t>
            </a:r>
          </a:p>
        </p:txBody>
      </p:sp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0C773C88-DFD9-FAA9-BA9F-2AB692582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90700" y="6571896"/>
            <a:ext cx="5562600" cy="283234"/>
          </a:xfrm>
        </p:spPr>
        <p:txBody>
          <a:bodyPr/>
          <a:lstStyle/>
          <a:p>
            <a:r>
              <a:rPr lang="en-GB" dirty="0" err="1"/>
              <a:t>Forschungsfrage</a:t>
            </a:r>
            <a:r>
              <a:rPr lang="en-GB" dirty="0"/>
              <a:t> 2</a:t>
            </a: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F7EED5E-1E2F-D3FA-0A89-DAF1E9A0111D}"/>
              </a:ext>
            </a:extLst>
          </p:cNvPr>
          <p:cNvSpPr txBox="1"/>
          <p:nvPr/>
        </p:nvSpPr>
        <p:spPr bwMode="auto">
          <a:xfrm>
            <a:off x="266351" y="1015075"/>
            <a:ext cx="8611298" cy="1631216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Vergleich zweier Lehrmethoden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Fokus auf Nachhaltigkeit des Lernens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Erwartung: stabilere Effekte bei interaktiver Methode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Praktischer Nutzen für Schulungskonzepte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Methodische Grenzen der Studie</a:t>
            </a:r>
          </a:p>
        </p:txBody>
      </p:sp>
    </p:spTree>
    <p:extLst>
      <p:ext uri="{BB962C8B-B14F-4D97-AF65-F5344CB8AC3E}">
        <p14:creationId xmlns:p14="http://schemas.microsoft.com/office/powerpoint/2010/main" val="3388799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5B25C-6734-6814-F440-5C606132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A9B7B71-8A98-B384-C136-EDCEABBED2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A3A57D9-08E7-4A35-820C-6C5F68307974}" type="slidenum">
              <a:rPr lang="de-DE" smtClean="0"/>
              <a:pPr>
                <a:defRPr/>
              </a:pPr>
              <a:t>17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D578570-FAE4-3D3E-793C-2542A6C8B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de-DE" dirty="0"/>
              <a:t>Quellenangaben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5F848428-EF5B-40E9-3E3C-C407247FB0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>
                <a:cs typeface="Arial"/>
              </a:rPr>
              <a:t>Quellenangaben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FF11EE-AD89-EE46-B196-56E9F4AB06FA}"/>
              </a:ext>
            </a:extLst>
          </p:cNvPr>
          <p:cNvSpPr txBox="1"/>
          <p:nvPr/>
        </p:nvSpPr>
        <p:spPr bwMode="auto">
          <a:xfrm>
            <a:off x="95534" y="858883"/>
            <a:ext cx="8932460" cy="3539430"/>
          </a:xfrm>
          <a:prstGeom prst="rect">
            <a:avLst/>
          </a:prstGeom>
          <a:noFill/>
          <a:ln w="12700"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sz="1600" b="0" i="1" dirty="0">
                <a:effectLst/>
                <a:latin typeface="+mj-lt"/>
              </a:rPr>
              <a:t>Gilliland, S. W. (1993). </a:t>
            </a:r>
            <a:r>
              <a:rPr lang="en-US" sz="1600" b="0" dirty="0">
                <a:effectLst/>
                <a:latin typeface="+mj-lt"/>
              </a:rPr>
              <a:t>The perceived fairness of selection systems: An organizational justice perspective. Academy of Management Review, 18(4), 694–734.</a:t>
            </a:r>
          </a:p>
          <a:p>
            <a:endParaRPr lang="en-US" sz="1600" i="1" dirty="0">
              <a:latin typeface="+mj-lt"/>
            </a:endParaRPr>
          </a:p>
          <a:p>
            <a:r>
              <a:rPr lang="en-US" sz="1600" i="1" dirty="0">
                <a:latin typeface="+mj-lt"/>
              </a:rPr>
              <a:t>Bauer, T. N., Truxillo, D. M., Tucker, J. S., Weathers, V., Bertolino, M., Erdogan, B., &amp; Campion</a:t>
            </a:r>
            <a:r>
              <a:rPr lang="en-US" sz="1600" dirty="0">
                <a:latin typeface="+mj-lt"/>
              </a:rPr>
              <a:t>, M. A. (2006). Selection in the information age: The impact of privacy concerns and computer experience on applicant reactions. Journal of Management, 32(5), 601–621</a:t>
            </a:r>
          </a:p>
          <a:p>
            <a:endParaRPr lang="en-US" sz="1600" dirty="0">
              <a:latin typeface="+mj-lt"/>
            </a:endParaRPr>
          </a:p>
          <a:p>
            <a:r>
              <a:rPr lang="en-US" sz="1600" i="1" dirty="0">
                <a:latin typeface="+mj-lt"/>
              </a:rPr>
              <a:t>Mirowska, A. &amp; </a:t>
            </a:r>
            <a:r>
              <a:rPr lang="en-US" sz="1600" i="1" dirty="0" err="1">
                <a:latin typeface="+mj-lt"/>
              </a:rPr>
              <a:t>Mesnet</a:t>
            </a:r>
            <a:r>
              <a:rPr lang="en-US" sz="1600" i="1" dirty="0">
                <a:latin typeface="+mj-lt"/>
              </a:rPr>
              <a:t>, L. (2022).</a:t>
            </a:r>
            <a:r>
              <a:rPr lang="en-US" sz="1600" dirty="0">
                <a:latin typeface="+mj-lt"/>
              </a:rPr>
              <a:t> Preferring the devil I know: Potential applicant reactions to artificial intelligence evaluation of interviews. Human Resource Management Journal, 32(4), 864–883.</a:t>
            </a:r>
          </a:p>
          <a:p>
            <a:endParaRPr lang="en-US" sz="1600" dirty="0">
              <a:latin typeface="+mj-lt"/>
            </a:endParaRPr>
          </a:p>
          <a:p>
            <a:r>
              <a:rPr lang="en-US" sz="1600" i="1" dirty="0" err="1">
                <a:latin typeface="+mj-lt"/>
              </a:rPr>
              <a:t>Köchling</a:t>
            </a:r>
            <a:r>
              <a:rPr lang="en-US" sz="1600" i="1" dirty="0">
                <a:latin typeface="+mj-lt"/>
              </a:rPr>
              <a:t>, A., Wehner, M. C., &amp; </a:t>
            </a:r>
            <a:r>
              <a:rPr lang="en-US" sz="1600" i="1" dirty="0" err="1">
                <a:latin typeface="+mj-lt"/>
              </a:rPr>
              <a:t>Warkocz</a:t>
            </a:r>
            <a:r>
              <a:rPr lang="en-US" sz="1600" i="1" dirty="0">
                <a:latin typeface="+mj-lt"/>
              </a:rPr>
              <a:t>, J. (2023). </a:t>
            </a:r>
            <a:r>
              <a:rPr lang="en-US" sz="1600" dirty="0">
                <a:latin typeface="+mj-lt"/>
              </a:rPr>
              <a:t>Can I show my skills? Affective responses to artificial intelligence in the recruitment process. Review of Managerial Science, 17, 2109–2138. (Das </a:t>
            </a:r>
            <a:r>
              <a:rPr lang="en-US" sz="1600" dirty="0" err="1">
                <a:latin typeface="+mj-lt"/>
              </a:rPr>
              <a:t>ist</a:t>
            </a:r>
            <a:r>
              <a:rPr lang="en-US" sz="1600" dirty="0">
                <a:latin typeface="+mj-lt"/>
              </a:rPr>
              <a:t> die Studie </a:t>
            </a:r>
            <a:r>
              <a:rPr lang="en-US" sz="1600" dirty="0" err="1">
                <a:latin typeface="+mj-lt"/>
              </a:rPr>
              <a:t>aus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Ihrer</a:t>
            </a:r>
            <a:r>
              <a:rPr lang="en-US" sz="1600" dirty="0">
                <a:latin typeface="+mj-lt"/>
              </a:rPr>
              <a:t> Date</a:t>
            </a:r>
            <a:endParaRPr lang="de-DE" sz="16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9517579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6cd991bf-f022-4378-96e7-2c338aeb3f5a"/>
</p:tagLst>
</file>

<file path=ppt/theme/theme1.xml><?xml version="1.0" encoding="utf-8"?>
<a:theme xmlns:a="http://schemas.openxmlformats.org/drawingml/2006/main" name="PPT-Vorlage_der_FOM_20140109">
  <a:themeElements>
    <a:clrScheme name="FOM">
      <a:dk1>
        <a:srgbClr val="262626"/>
      </a:dk1>
      <a:lt1>
        <a:sysClr val="window" lastClr="FFFFFF"/>
      </a:lt1>
      <a:dk2>
        <a:srgbClr val="717D87"/>
      </a:dk2>
      <a:lt2>
        <a:srgbClr val="DBDEE1"/>
      </a:lt2>
      <a:accent1>
        <a:srgbClr val="00998A"/>
      </a:accent1>
      <a:accent2>
        <a:srgbClr val="BFE5E2"/>
      </a:accent2>
      <a:accent3>
        <a:srgbClr val="A10010"/>
      </a:accent3>
      <a:accent4>
        <a:srgbClr val="E7C2C3"/>
      </a:accent4>
      <a:accent5>
        <a:srgbClr val="004A94"/>
      </a:accent5>
      <a:accent6>
        <a:srgbClr val="BFD1E4"/>
      </a:accent6>
      <a:hlink>
        <a:srgbClr val="00998A"/>
      </a:hlink>
      <a:folHlink>
        <a:srgbClr val="00998A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19050">
          <a:solidFill>
            <a:schemeClr val="accent1">
              <a:lumMod val="75000"/>
            </a:schemeClr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algn="ctr">
          <a:defRPr sz="18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2"/>
          </a:solidFill>
          <a:miter lim="800000"/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12700">
          <a:noFill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  <a:noAutofit/>
      </a:bodyPr>
      <a:lstStyle>
        <a:defPPr marL="0" marR="0" indent="0" defTabSz="914400" rtl="0" eaLnBrk="1" fontAlgn="base" latinLnBrk="0" hangingPunct="1">
          <a:lnSpc>
            <a:spcPct val="100000"/>
          </a:lnSpc>
          <a:spcBef>
            <a:spcPts val="0"/>
          </a:spcBef>
          <a:spcAft>
            <a:spcPts val="600"/>
          </a:spcAft>
          <a:buClr>
            <a:srgbClr val="23A092"/>
          </a:buClr>
          <a:buSzPct val="80000"/>
          <a:buFont typeface="Wingdings" pitchFamily="2" charset="2"/>
          <a:buNone/>
          <a:tabLst/>
          <a:defRPr kumimoji="0" sz="1400" b="0" i="0" u="none" strike="noStrike" kern="0" cap="none" spc="0" normalizeH="0" baseline="0" noProof="0" dirty="0" err="1" smtClean="0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</a:defRPr>
        </a:defPPr>
      </a:lstStyle>
    </a:txDef>
  </a:objectDefaults>
  <a:extraClrSchemeLst>
    <a:extraClrScheme>
      <a:clrScheme name="Larissa-Design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arissa-Design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arissa-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5CC4F322-7EF6-4171-A8E5-227CE26FCA74}" vid="{B212139E-35CA-4734-9A91-773821B6CAE0}"/>
    </a:ext>
  </a:ext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990bb7a-51f4-439b-bd36-9c07fb1041c0}" enabled="0" method="" siteId="{c990bb7a-51f4-439b-bd36-9c07fb1041c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PPT-Vorlage_der_FOM_Stand-Juni2016</Template>
  <TotalTime>173</TotalTime>
  <Words>1291</Words>
  <Application>Microsoft Office PowerPoint</Application>
  <PresentationFormat>On-screen Show (4:3)</PresentationFormat>
  <Paragraphs>179</Paragraphs>
  <Slides>17</Slides>
  <Notes>8</Notes>
  <HiddenSlides>11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Wingdings</vt:lpstr>
      <vt:lpstr>PPT-Vorlage_der_FOM_20140109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BCW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Hansen, Tabea;John, Dennis</dc:creator>
  <cp:lastModifiedBy>Mooren, Leonard</cp:lastModifiedBy>
  <cp:revision>11</cp:revision>
  <cp:lastPrinted>2013-02-22T13:48:11Z</cp:lastPrinted>
  <dcterms:created xsi:type="dcterms:W3CDTF">2017-12-20T07:40:53Z</dcterms:created>
  <dcterms:modified xsi:type="dcterms:W3CDTF">2026-01-12T21:15:37Z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359f705-2ba0-454b-9cfc-6ce5bcaac040_Enabled">
    <vt:lpwstr>true</vt:lpwstr>
  </property>
  <property fmtid="{D5CDD505-2E9C-101B-9397-08002B2CF9AE}" pid="3" name="MSIP_Label_0359f705-2ba0-454b-9cfc-6ce5bcaac040_SetDate">
    <vt:lpwstr>2021-06-07T20:14:26Z</vt:lpwstr>
  </property>
  <property fmtid="{D5CDD505-2E9C-101B-9397-08002B2CF9AE}" pid="4" name="MSIP_Label_0359f705-2ba0-454b-9cfc-6ce5bcaac040_Method">
    <vt:lpwstr>Standard</vt:lpwstr>
  </property>
  <property fmtid="{D5CDD505-2E9C-101B-9397-08002B2CF9AE}" pid="5" name="MSIP_Label_0359f705-2ba0-454b-9cfc-6ce5bcaac040_Name">
    <vt:lpwstr>0359f705-2ba0-454b-9cfc-6ce5bcaac040</vt:lpwstr>
  </property>
  <property fmtid="{D5CDD505-2E9C-101B-9397-08002B2CF9AE}" pid="6" name="MSIP_Label_0359f705-2ba0-454b-9cfc-6ce5bcaac040_SiteId">
    <vt:lpwstr>68283f3b-8487-4c86-adb3-a5228f18b893</vt:lpwstr>
  </property>
  <property fmtid="{D5CDD505-2E9C-101B-9397-08002B2CF9AE}" pid="7" name="MSIP_Label_0359f705-2ba0-454b-9cfc-6ce5bcaac040_ActionId">
    <vt:lpwstr>3b594615-3cdc-44f2-9933-0000150c3d34</vt:lpwstr>
  </property>
  <property fmtid="{D5CDD505-2E9C-101B-9397-08002B2CF9AE}" pid="8" name="MSIP_Label_0359f705-2ba0-454b-9cfc-6ce5bcaac040_ContentBits">
    <vt:lpwstr>2</vt:lpwstr>
  </property>
</Properties>
</file>