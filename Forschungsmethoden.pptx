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30" r:id="rId2"/>
    <p:sldId id="607" r:id="rId3"/>
    <p:sldId id="622" r:id="rId4"/>
    <p:sldId id="682" r:id="rId5"/>
    <p:sldId id="617" r:id="rId6"/>
    <p:sldId id="662" r:id="rId7"/>
    <p:sldId id="680" r:id="rId8"/>
    <p:sldId id="687" r:id="rId9"/>
    <p:sldId id="683" r:id="rId10"/>
    <p:sldId id="684" r:id="rId11"/>
    <p:sldId id="685" r:id="rId12"/>
    <p:sldId id="686" r:id="rId13"/>
    <p:sldId id="655" r:id="rId14"/>
    <p:sldId id="688" r:id="rId15"/>
  </p:sldIdLst>
  <p:sldSz cx="9144000" cy="6858000" type="screen4x3"/>
  <p:notesSz cx="6797675" cy="9926638"/>
  <p:custDataLst>
    <p:tags r:id="rId1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orient="horz" pos="77">
          <p15:clr>
            <a:srgbClr val="A4A3A4"/>
          </p15:clr>
        </p15:guide>
        <p15:guide id="3" orient="horz" pos="4057">
          <p15:clr>
            <a:srgbClr val="A4A3A4"/>
          </p15:clr>
        </p15:guide>
        <p15:guide id="4" orient="horz" pos="2319" userDrawn="1">
          <p15:clr>
            <a:srgbClr val="A4A3A4"/>
          </p15:clr>
        </p15:guide>
        <p15:guide id="5" orient="horz" pos="4269" userDrawn="1">
          <p15:clr>
            <a:srgbClr val="A4A3A4"/>
          </p15:clr>
        </p15:guide>
        <p15:guide id="6" pos="5216" userDrawn="1">
          <p15:clr>
            <a:srgbClr val="A4A3A4"/>
          </p15:clr>
        </p15:guide>
        <p15:guide id="7" pos="2659">
          <p15:clr>
            <a:srgbClr val="A4A3A4"/>
          </p15:clr>
        </p15:guide>
        <p15:guide id="8" pos="5683">
          <p15:clr>
            <a:srgbClr val="A4A3A4"/>
          </p15:clr>
        </p15:guide>
        <p15:guide id="9" pos="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8B"/>
    <a:srgbClr val="8FB63E"/>
    <a:srgbClr val="007368"/>
    <a:srgbClr val="CBDEDA"/>
    <a:srgbClr val="FF6600"/>
    <a:srgbClr val="D04931"/>
    <a:srgbClr val="679E9B"/>
    <a:srgbClr val="6B1B4B"/>
    <a:srgbClr val="007C91"/>
    <a:srgbClr val="00B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210" y="58"/>
      </p:cViewPr>
      <p:guideLst>
        <p:guide orient="horz" pos="618"/>
        <p:guide orient="horz" pos="77"/>
        <p:guide orient="horz" pos="4057"/>
        <p:guide orient="horz" pos="2319"/>
        <p:guide orient="horz" pos="4269"/>
        <p:guide pos="5216"/>
        <p:guide pos="2659"/>
        <p:guide pos="5683"/>
        <p:guide pos="9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4958" cy="496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717" y="1"/>
            <a:ext cx="2944958" cy="496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A667905-F2DF-49CE-907C-1EF165902A26}" type="datetime1">
              <a:rPr lang="de-DE" smtClean="0"/>
              <a:t>12.01.2026</a:t>
            </a:fld>
            <a:endParaRPr lang="de-DE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0630"/>
            <a:ext cx="2944958" cy="496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717" y="9430630"/>
            <a:ext cx="2944958" cy="496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C7157A5-FB16-48B7-B216-6660B3138BE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6848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4958" cy="496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717" y="1"/>
            <a:ext cx="2944958" cy="496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5DB1547-7EF8-48A8-8B3E-D12C3CE57FC8}" type="datetime1">
              <a:rPr lang="de-DE" smtClean="0"/>
              <a:t>12.01.2026</a:t>
            </a:fld>
            <a:endParaRPr lang="de-DE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2" y="4714507"/>
            <a:ext cx="4985393" cy="4467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0630"/>
            <a:ext cx="2944958" cy="496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717" y="9430630"/>
            <a:ext cx="2944958" cy="496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3" tIns="46551" rIns="93103" bIns="4655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CB6D199-8F06-4346-AE65-F23F023EED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11830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4FB0DA8-9745-4162-84A5-E1D27B50B65B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96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5DB1547-7EF8-48A8-8B3E-D12C3CE57FC8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187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8382-C7FF-35CB-287F-E244C5C5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34F8E38-4E6D-E085-571D-8FDE79B2C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35DA6B-FB48-B3F0-331C-9A43C4838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31BF00-DB69-5875-D8E6-E260280B8FE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5DB1547-7EF8-48A8-8B3E-D12C3CE57FC8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1599F-D07F-F8D9-C7A3-78807DF23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13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47A5-19BA-94E0-5C5B-7B1FC488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19FD50-6518-F235-E44F-C8AA9A885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33B8AD-F4AE-2BA8-11CE-B0300DD9E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46B595-C77B-E0A5-34E3-9B7B8B093A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5DB1547-7EF8-48A8-8B3E-D12C3CE57FC8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CC0CBB-CE20-8AD4-C75C-BDA4F3B74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347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60B0-EEBD-8EAE-BFE4-2567DCBB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C1B6B5F-2B9A-1318-A96B-4B9806312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9E647E2-7D3B-5553-9858-3340A35C4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0E70C7-3EC1-93CB-08A2-022C2306D3B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5DB1547-7EF8-48A8-8B3E-D12C3CE57FC8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B9A2EF-932C-B59A-47A1-383909361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353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:\Projektorganisation\Allgemein\Vorlagen\Logos\Initiale\FOM_Initial_2012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313" y="92075"/>
            <a:ext cx="744537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11" name="Inhaltsplatzhalter 10"/>
          <p:cNvSpPr>
            <a:spLocks noGrp="1"/>
          </p:cNvSpPr>
          <p:nvPr>
            <p:ph sz="quarter" idx="13" hasCustomPrompt="1"/>
          </p:nvPr>
        </p:nvSpPr>
        <p:spPr>
          <a:xfrm>
            <a:off x="396851" y="3863556"/>
            <a:ext cx="8022566" cy="1354301"/>
          </a:xfrm>
        </p:spPr>
        <p:txBody>
          <a:bodyPr rIns="108000" anchor="b">
            <a:noAutofit/>
          </a:bodyPr>
          <a:lstStyle>
            <a:lvl1pPr algn="r">
              <a:buFontTx/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Modulname/Veranstaltung</a:t>
            </a:r>
          </a:p>
        </p:txBody>
      </p:sp>
      <p:sp>
        <p:nvSpPr>
          <p:cNvPr id="17" name="Inhaltsplatzhalter 10"/>
          <p:cNvSpPr>
            <a:spLocks noGrp="1"/>
          </p:cNvSpPr>
          <p:nvPr>
            <p:ph sz="quarter" idx="14" hasCustomPrompt="1"/>
          </p:nvPr>
        </p:nvSpPr>
        <p:spPr>
          <a:xfrm>
            <a:off x="396851" y="5750928"/>
            <a:ext cx="8022566" cy="361920"/>
          </a:xfrm>
        </p:spPr>
        <p:txBody>
          <a:bodyPr rIns="108000">
            <a:noAutofit/>
          </a:bodyPr>
          <a:lstStyle>
            <a:lvl1pPr algn="r">
              <a:buFontTx/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Vortragende/r</a:t>
            </a:r>
          </a:p>
        </p:txBody>
      </p:sp>
      <p:sp>
        <p:nvSpPr>
          <p:cNvPr id="18" name="Inhaltsplatzhalter 10"/>
          <p:cNvSpPr>
            <a:spLocks noGrp="1"/>
          </p:cNvSpPr>
          <p:nvPr>
            <p:ph sz="quarter" idx="15" hasCustomPrompt="1"/>
          </p:nvPr>
        </p:nvSpPr>
        <p:spPr>
          <a:xfrm>
            <a:off x="396851" y="5218247"/>
            <a:ext cx="8022566" cy="361920"/>
          </a:xfrm>
        </p:spPr>
        <p:txBody>
          <a:bodyPr rIns="108000">
            <a:noAutofit/>
          </a:bodyPr>
          <a:lstStyle>
            <a:lvl1pPr algn="r">
              <a:buFontTx/>
              <a:buNone/>
              <a:defRPr sz="1800" b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de-DE"/>
              <a:t>ggfs. Untertitel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1126" y="129944"/>
            <a:ext cx="706038" cy="70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063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Prof. Dr. E Meissner | Qualitative Forschung</a:t>
            </a:r>
          </a:p>
        </p:txBody>
      </p:sp>
      <p:sp>
        <p:nvSpPr>
          <p:cNvPr id="1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25451" y="971550"/>
            <a:ext cx="8315181" cy="5377492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20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21756" y="173038"/>
            <a:ext cx="7936302" cy="356288"/>
          </a:xfrm>
          <a:prstGeom prst="rect">
            <a:avLst/>
          </a:prstGeom>
        </p:spPr>
        <p:txBody>
          <a:bodyPr anchor="b"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Abschnittsbereich/ Oberthema (optional)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440036"/>
            <a:ext cx="7950708" cy="360064"/>
          </a:xfrm>
        </p:spPr>
        <p:txBody>
          <a:bodyPr anchor="t"/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587258" y="3683480"/>
            <a:ext cx="6786652" cy="1250830"/>
          </a:xfrm>
        </p:spPr>
        <p:txBody>
          <a:bodyPr anchor="b"/>
          <a:lstStyle>
            <a:lvl1pPr algn="r">
              <a:buClr>
                <a:srgbClr val="23A092"/>
              </a:buClr>
              <a:buFont typeface="Wingdings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631825" indent="-285750">
              <a:buClr>
                <a:srgbClr val="23A092"/>
              </a:buClr>
              <a:buSzPct val="80000"/>
              <a:buFont typeface="Wingdings" pitchFamily="2" charset="2"/>
              <a:buNone/>
              <a:defRPr sz="1600">
                <a:solidFill>
                  <a:srgbClr val="23A092"/>
                </a:solidFill>
              </a:defRPr>
            </a:lvl2pPr>
            <a:lvl3pPr marL="900113" indent="-269875">
              <a:buClr>
                <a:srgbClr val="23A092"/>
              </a:buClr>
              <a:buSzPct val="70000"/>
              <a:buFont typeface="Wingdings" pitchFamily="2" charset="2"/>
              <a:buNone/>
              <a:defRPr sz="1600">
                <a:solidFill>
                  <a:srgbClr val="1C1C1C"/>
                </a:solidFill>
              </a:defRPr>
            </a:lvl3pPr>
            <a:lvl4pPr marL="1165225" indent="-268288">
              <a:buClr>
                <a:srgbClr val="23A092"/>
              </a:buClr>
              <a:buSzPct val="60000"/>
              <a:buFont typeface="Wingdings" pitchFamily="2" charset="2"/>
              <a:buNone/>
              <a:defRPr sz="1500">
                <a:solidFill>
                  <a:srgbClr val="23A092"/>
                </a:solidFill>
              </a:defRPr>
            </a:lvl4pPr>
            <a:lvl5pPr marL="1527175" indent="-268288">
              <a:buClr>
                <a:srgbClr val="23A092"/>
              </a:buClr>
              <a:buSzPct val="50000"/>
              <a:buFont typeface="Wingdings" pitchFamily="2" charset="2"/>
              <a:buNone/>
              <a:defRPr sz="1500">
                <a:solidFill>
                  <a:srgbClr val="1C1C1C"/>
                </a:solidFill>
              </a:defRPr>
            </a:lvl5pPr>
          </a:lstStyle>
          <a:p>
            <a:pPr lvl="0"/>
            <a:r>
              <a:rPr lang="de-DE"/>
              <a:t>Zwischenüberschrift</a:t>
            </a:r>
          </a:p>
        </p:txBody>
      </p:sp>
      <p:sp>
        <p:nvSpPr>
          <p:cNvPr id="6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Prof. Dr. E Meissner | Qualitative Forschung</a:t>
            </a:r>
          </a:p>
        </p:txBody>
      </p:sp>
      <p:sp>
        <p:nvSpPr>
          <p:cNvPr id="1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5604924-F6DC-436B-AB44-DC14DB524517}" type="datetime1">
              <a:rPr lang="de-DE" smtClean="0"/>
              <a:t>12.01.2026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: 2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 Verbindung 9"/>
          <p:cNvCxnSpPr/>
          <p:nvPr userDrawn="1"/>
        </p:nvCxnSpPr>
        <p:spPr>
          <a:xfrm>
            <a:off x="4202884" y="906011"/>
            <a:ext cx="0" cy="5580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3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Prof. Dr. E Meissner | Qualitative Forschung</a:t>
            </a:r>
          </a:p>
        </p:txBody>
      </p:sp>
      <p:sp>
        <p:nvSpPr>
          <p:cNvPr id="15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CC01F75-5C8C-436A-AA02-0EF0DC6211AE}" type="datetime1">
              <a:rPr lang="de-DE" smtClean="0"/>
              <a:t>12.01.2026</a:t>
            </a:fld>
            <a:endParaRPr lang="de-DE"/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21756" y="173038"/>
            <a:ext cx="7936302" cy="356288"/>
          </a:xfrm>
          <a:prstGeom prst="rect">
            <a:avLst/>
          </a:prstGeom>
        </p:spPr>
        <p:txBody>
          <a:bodyPr anchor="b"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Abschnittsbereich/ Oberthema (optional)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440036"/>
            <a:ext cx="7950708" cy="360064"/>
          </a:xfrm>
        </p:spPr>
        <p:txBody>
          <a:bodyPr anchor="t"/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Folientitel</a:t>
            </a:r>
          </a:p>
        </p:txBody>
      </p:sp>
      <p:sp>
        <p:nvSpPr>
          <p:cNvPr id="20" name="Inhaltsplatzhalter 2"/>
          <p:cNvSpPr>
            <a:spLocks noGrp="1"/>
          </p:cNvSpPr>
          <p:nvPr>
            <p:ph idx="1" hasCustomPrompt="1"/>
          </p:nvPr>
        </p:nvSpPr>
        <p:spPr>
          <a:xfrm>
            <a:off x="25451" y="971550"/>
            <a:ext cx="4177433" cy="5377492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20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  <p:sp>
        <p:nvSpPr>
          <p:cNvPr id="21" name="Inhaltsplatzhalter 2"/>
          <p:cNvSpPr>
            <a:spLocks noGrp="1"/>
          </p:cNvSpPr>
          <p:nvPr>
            <p:ph idx="14" hasCustomPrompt="1"/>
          </p:nvPr>
        </p:nvSpPr>
        <p:spPr>
          <a:xfrm>
            <a:off x="4202884" y="971550"/>
            <a:ext cx="4177433" cy="5377492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20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: 2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 Verbindung 8"/>
          <p:cNvCxnSpPr/>
          <p:nvPr userDrawn="1"/>
        </p:nvCxnSpPr>
        <p:spPr>
          <a:xfrm>
            <a:off x="138113" y="3713948"/>
            <a:ext cx="815980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1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Prof. Dr. E Meissner | Qualitative Forschung</a:t>
            </a:r>
          </a:p>
        </p:txBody>
      </p:sp>
      <p:sp>
        <p:nvSpPr>
          <p:cNvPr id="14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0B6E929-60DB-47AB-8126-AFD6F950AAF6}" type="datetime1">
              <a:rPr lang="de-DE" smtClean="0"/>
              <a:t>12.01.2026</a:t>
            </a:fld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title" hasCustomPrompt="1"/>
          </p:nvPr>
        </p:nvSpPr>
        <p:spPr>
          <a:xfrm>
            <a:off x="21756" y="173038"/>
            <a:ext cx="7936302" cy="356288"/>
          </a:xfrm>
          <a:prstGeom prst="rect">
            <a:avLst/>
          </a:prstGeom>
        </p:spPr>
        <p:txBody>
          <a:bodyPr anchor="b"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Abschnittsbereich/ Oberthema (optional)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440036"/>
            <a:ext cx="7950708" cy="360064"/>
          </a:xfrm>
        </p:spPr>
        <p:txBody>
          <a:bodyPr anchor="t"/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Folientitel</a:t>
            </a:r>
          </a:p>
        </p:txBody>
      </p:sp>
      <p:sp>
        <p:nvSpPr>
          <p:cNvPr id="20" name="Inhaltsplatzhalter 2"/>
          <p:cNvSpPr>
            <a:spLocks noGrp="1"/>
          </p:cNvSpPr>
          <p:nvPr>
            <p:ph idx="1" hasCustomPrompt="1"/>
          </p:nvPr>
        </p:nvSpPr>
        <p:spPr>
          <a:xfrm>
            <a:off x="25451" y="971550"/>
            <a:ext cx="8315181" cy="2742398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20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  <p:sp>
        <p:nvSpPr>
          <p:cNvPr id="21" name="Inhaltsplatzhalter 2"/>
          <p:cNvSpPr>
            <a:spLocks noGrp="1"/>
          </p:cNvSpPr>
          <p:nvPr>
            <p:ph idx="14" hasCustomPrompt="1"/>
          </p:nvPr>
        </p:nvSpPr>
        <p:spPr>
          <a:xfrm>
            <a:off x="25451" y="3713948"/>
            <a:ext cx="8315181" cy="2742398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20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 Verbindung 10"/>
          <p:cNvCxnSpPr/>
          <p:nvPr userDrawn="1"/>
        </p:nvCxnSpPr>
        <p:spPr>
          <a:xfrm>
            <a:off x="4210891" y="914400"/>
            <a:ext cx="0" cy="542925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138113" y="3714019"/>
            <a:ext cx="8181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20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Prof. Dr. E Meissner | Qualitative Forschung</a:t>
            </a:r>
          </a:p>
        </p:txBody>
      </p:sp>
      <p:sp>
        <p:nvSpPr>
          <p:cNvPr id="2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0BB1B9D-49D0-46D0-B306-9C959DAB0A73}" type="datetime1">
              <a:rPr lang="de-DE" smtClean="0"/>
              <a:t>12.01.2026</a:t>
            </a:fld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title" hasCustomPrompt="1"/>
          </p:nvPr>
        </p:nvSpPr>
        <p:spPr>
          <a:xfrm>
            <a:off x="21756" y="173038"/>
            <a:ext cx="7936302" cy="356288"/>
          </a:xfrm>
          <a:prstGeom prst="rect">
            <a:avLst/>
          </a:prstGeom>
        </p:spPr>
        <p:txBody>
          <a:bodyPr anchor="b"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Abschnittsbereich/ Oberthema (optional)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440036"/>
            <a:ext cx="7950708" cy="360064"/>
          </a:xfrm>
        </p:spPr>
        <p:txBody>
          <a:bodyPr anchor="t"/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Folientitel</a:t>
            </a:r>
          </a:p>
        </p:txBody>
      </p:sp>
      <p:sp>
        <p:nvSpPr>
          <p:cNvPr id="19" name="Inhaltsplatzhalter 2"/>
          <p:cNvSpPr>
            <a:spLocks noGrp="1"/>
          </p:cNvSpPr>
          <p:nvPr>
            <p:ph idx="1" hasCustomPrompt="1"/>
          </p:nvPr>
        </p:nvSpPr>
        <p:spPr>
          <a:xfrm>
            <a:off x="25451" y="971550"/>
            <a:ext cx="4177433" cy="2742469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6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4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  <p:sp>
        <p:nvSpPr>
          <p:cNvPr id="22" name="Inhaltsplatzhalter 2"/>
          <p:cNvSpPr>
            <a:spLocks noGrp="1"/>
          </p:cNvSpPr>
          <p:nvPr>
            <p:ph idx="14" hasCustomPrompt="1"/>
          </p:nvPr>
        </p:nvSpPr>
        <p:spPr>
          <a:xfrm>
            <a:off x="4202884" y="971550"/>
            <a:ext cx="4177433" cy="2742469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6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4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  <p:sp>
        <p:nvSpPr>
          <p:cNvPr id="25" name="Inhaltsplatzhalter 2"/>
          <p:cNvSpPr>
            <a:spLocks noGrp="1"/>
          </p:cNvSpPr>
          <p:nvPr>
            <p:ph idx="15" hasCustomPrompt="1"/>
          </p:nvPr>
        </p:nvSpPr>
        <p:spPr>
          <a:xfrm>
            <a:off x="25451" y="3714019"/>
            <a:ext cx="4177433" cy="2742469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6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4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  <p:sp>
        <p:nvSpPr>
          <p:cNvPr id="26" name="Inhaltsplatzhalter 2"/>
          <p:cNvSpPr>
            <a:spLocks noGrp="1"/>
          </p:cNvSpPr>
          <p:nvPr>
            <p:ph idx="16" hasCustomPrompt="1"/>
          </p:nvPr>
        </p:nvSpPr>
        <p:spPr>
          <a:xfrm>
            <a:off x="4202884" y="3714019"/>
            <a:ext cx="4177433" cy="2742469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6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4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>
          <a:xfrm>
            <a:off x="0" y="457381"/>
            <a:ext cx="8089105" cy="38558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80000">
                <a:schemeClr val="accent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0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1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Prof. Dr. E Meissner | Qualitative Forschung</a:t>
            </a:r>
          </a:p>
        </p:txBody>
      </p:sp>
      <p:sp>
        <p:nvSpPr>
          <p:cNvPr id="13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4C88079-6C24-483E-8CDE-1A037B091822}" type="datetime1">
              <a:rPr lang="de-DE" smtClean="0"/>
              <a:t>12.01.2026</a:t>
            </a:fld>
            <a:endParaRPr lang="de-DE"/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21756" y="173038"/>
            <a:ext cx="7936302" cy="356288"/>
          </a:xfrm>
          <a:prstGeom prst="rect">
            <a:avLst/>
          </a:prstGeom>
        </p:spPr>
        <p:txBody>
          <a:bodyPr anchor="b"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Abschnittsbereich/ Oberthema (optional)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473904"/>
            <a:ext cx="7950708" cy="360064"/>
          </a:xfrm>
        </p:spPr>
        <p:txBody>
          <a:bodyPr anchor="t"/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Folientitel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" hasCustomPrompt="1"/>
          </p:nvPr>
        </p:nvSpPr>
        <p:spPr>
          <a:xfrm>
            <a:off x="25451" y="971550"/>
            <a:ext cx="8315181" cy="5377492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2000" b="1">
                <a:solidFill>
                  <a:schemeClr val="accent1"/>
                </a:solidFill>
              </a:defRPr>
            </a:lvl1pPr>
            <a:lvl2pPr marL="0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just"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just"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Textebene 1</a:t>
            </a:r>
          </a:p>
          <a:p>
            <a:pPr lvl="2"/>
            <a:r>
              <a:rPr lang="de-DE"/>
              <a:t>Listenebene 1</a:t>
            </a:r>
          </a:p>
          <a:p>
            <a:pPr lvl="3"/>
            <a:r>
              <a:rPr lang="de-DE"/>
              <a:t>Textebene 2</a:t>
            </a:r>
          </a:p>
          <a:p>
            <a:pPr lvl="4"/>
            <a:r>
              <a:rPr lang="de-DE"/>
              <a:t>Listenebene 2</a:t>
            </a:r>
          </a:p>
          <a:p>
            <a:pPr lvl="5"/>
            <a:r>
              <a:rPr lang="de-DE"/>
              <a:t>Textebene 3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Prof. Dr. E Meissner | Qualitative Forschung</a:t>
            </a:r>
          </a:p>
        </p:txBody>
      </p:sp>
      <p:sp>
        <p:nvSpPr>
          <p:cNvPr id="9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0AA4EA3-BAE5-4258-86E9-6A3ABBFF3243}" type="datetime1">
              <a:rPr lang="de-DE" smtClean="0"/>
              <a:t>12.01.2026</a:t>
            </a:fld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5660" y="992038"/>
            <a:ext cx="8803137" cy="5172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Rechteck 14"/>
          <p:cNvSpPr/>
          <p:nvPr userDrawn="1"/>
        </p:nvSpPr>
        <p:spPr>
          <a:xfrm>
            <a:off x="122238" y="823066"/>
            <a:ext cx="7966867" cy="1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80000">
                <a:schemeClr val="accent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122238" y="6557906"/>
            <a:ext cx="7966867" cy="144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80000">
                <a:schemeClr val="accent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1126" y="129944"/>
            <a:ext cx="706038" cy="70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SIPCMContentMarking" descr="{&quot;HashCode&quot;:-1699574231,&quot;Placement&quot;:&quot;Footer&quot;,&quot;Top&quot;:523.380066,&quot;Left&quot;:0.0,&quot;SlideWidth&quot;:720,&quot;SlideHeight&quot;:540}">
            <a:extLst>
              <a:ext uri="{FF2B5EF4-FFF2-40B4-BE49-F238E27FC236}">
                <a16:creationId xmlns:a16="http://schemas.microsoft.com/office/drawing/2014/main" id="{DA4A527B-F4AD-4DC3-8325-A8A1E419DAC3}"/>
              </a:ext>
            </a:extLst>
          </p:cNvPr>
          <p:cNvSpPr txBox="1"/>
          <p:nvPr userDrawn="1"/>
        </p:nvSpPr>
        <p:spPr bwMode="auto">
          <a:xfrm>
            <a:off x="0" y="6646927"/>
            <a:ext cx="619703" cy="21107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r>
              <a:rPr kumimoji="0" lang="de-DE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</a:rPr>
              <a:t>C2 General</a:t>
            </a:r>
            <a:endParaRPr kumimoji="0" lang="de-DE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35" r:id="rId2"/>
    <p:sldLayoutId id="2147483749" r:id="rId3"/>
    <p:sldLayoutId id="2147483746" r:id="rId4"/>
    <p:sldLayoutId id="2147483748" r:id="rId5"/>
    <p:sldLayoutId id="2147483747" r:id="rId6"/>
    <p:sldLayoutId id="2147483750" r:id="rId7"/>
    <p:sldLayoutId id="2147483751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3A092"/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-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+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FEBDFDEC-FF2C-733B-4F66-18B064C27CBE}"/>
              </a:ext>
            </a:extLst>
          </p:cNvPr>
          <p:cNvSpPr/>
          <p:nvPr/>
        </p:nvSpPr>
        <p:spPr>
          <a:xfrm>
            <a:off x="6769291" y="5748622"/>
            <a:ext cx="2374710" cy="1011578"/>
          </a:xfrm>
          <a:prstGeom prst="rect">
            <a:avLst/>
          </a:prstGeom>
          <a:solidFill>
            <a:srgbClr val="00998B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2" name="Inhaltsplatzhalter 1"/>
          <p:cNvSpPr>
            <a:spLocks noGrp="1"/>
          </p:cNvSpPr>
          <p:nvPr>
            <p:ph sz="quarter" idx="13"/>
          </p:nvPr>
        </p:nvSpPr>
        <p:spPr>
          <a:xfrm>
            <a:off x="559013" y="4293822"/>
            <a:ext cx="8022566" cy="2006013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DE" sz="1800" kern="1200" dirty="0"/>
              <a:t>Projekt: Forschungsmethoden</a:t>
            </a:r>
            <a:br>
              <a:rPr lang="de-DE" sz="1800" kern="1200" dirty="0"/>
            </a:br>
            <a:r>
              <a:rPr lang="de-DE" sz="1800" kern="1200" dirty="0"/>
              <a:t>Wirtschaftsinformatik</a:t>
            </a:r>
            <a:endParaRPr lang="de-DE" sz="3200" dirty="0">
              <a:cs typeface="Arial" panose="020B0604020202020204"/>
            </a:endParaRPr>
          </a:p>
          <a:p>
            <a:pPr algn="ctr">
              <a:lnSpc>
                <a:spcPct val="120000"/>
              </a:lnSpc>
            </a:pPr>
            <a:r>
              <a:rPr lang="de-DE" sz="1800" kern="1200" dirty="0"/>
              <a:t>Prof</a:t>
            </a:r>
            <a:r>
              <a:rPr lang="de-DE" sz="1800" kern="1200" dirty="0">
                <a:solidFill>
                  <a:srgbClr val="00998A"/>
                </a:solidFill>
                <a:ea typeface="+mn-lt"/>
                <a:cs typeface="+mn-lt"/>
              </a:rPr>
              <a:t>. Dr. Jörg </a:t>
            </a:r>
            <a:r>
              <a:rPr lang="de-DE" sz="1800" kern="1200" dirty="0" err="1">
                <a:solidFill>
                  <a:srgbClr val="00998A"/>
                </a:solidFill>
                <a:ea typeface="+mn-lt"/>
                <a:cs typeface="+mn-lt"/>
              </a:rPr>
              <a:t>Klukas</a:t>
            </a:r>
            <a:r>
              <a:rPr lang="de-DE" sz="3200" dirty="0"/>
              <a:t> </a:t>
            </a:r>
            <a:endParaRPr lang="de-DE" sz="3200" dirty="0">
              <a:cs typeface="Arial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6769291" y="5748621"/>
            <a:ext cx="2374709" cy="755782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</a:rPr>
              <a:t>Emma </a:t>
            </a:r>
            <a:r>
              <a:rPr lang="de-DE" dirty="0" err="1">
                <a:solidFill>
                  <a:schemeClr val="bg1"/>
                </a:solidFill>
              </a:rPr>
              <a:t>Worrings</a:t>
            </a:r>
            <a:endParaRPr lang="de-DE" dirty="0">
              <a:solidFill>
                <a:schemeClr val="bg1"/>
              </a:solidFill>
            </a:endParaRPr>
          </a:p>
          <a:p>
            <a:pPr algn="l"/>
            <a:r>
              <a:rPr lang="de-DE" dirty="0">
                <a:solidFill>
                  <a:schemeClr val="bg1"/>
                </a:solidFill>
              </a:rPr>
              <a:t>Paul </a:t>
            </a:r>
            <a:r>
              <a:rPr lang="de-DE" dirty="0" err="1">
                <a:solidFill>
                  <a:schemeClr val="bg1"/>
                </a:solidFill>
              </a:rPr>
              <a:t>Gardey</a:t>
            </a:r>
            <a:endParaRPr lang="de-DE" dirty="0">
              <a:solidFill>
                <a:schemeClr val="bg1"/>
              </a:solidFill>
            </a:endParaRPr>
          </a:p>
          <a:p>
            <a:pPr algn="l"/>
            <a:r>
              <a:rPr lang="de-DE" dirty="0">
                <a:solidFill>
                  <a:schemeClr val="bg1"/>
                </a:solidFill>
              </a:rPr>
              <a:t>Leonard Mooren</a:t>
            </a:r>
          </a:p>
          <a:p>
            <a:pPr algn="l"/>
            <a:endParaRPr lang="de-DE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1C14B01-A862-9EF2-A1B6-BCC01FF1C194}"/>
              </a:ext>
            </a:extLst>
          </p:cNvPr>
          <p:cNvSpPr txBox="1"/>
          <p:nvPr/>
        </p:nvSpPr>
        <p:spPr bwMode="auto">
          <a:xfrm>
            <a:off x="2635624" y="4453666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F80617-D938-DD2B-2838-4B4A681EBAF0}"/>
              </a:ext>
            </a:extLst>
          </p:cNvPr>
          <p:cNvSpPr txBox="1"/>
          <p:nvPr/>
        </p:nvSpPr>
        <p:spPr bwMode="auto">
          <a:xfrm>
            <a:off x="578509" y="1315079"/>
            <a:ext cx="7986982" cy="156966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DE" sz="3200" b="1" dirty="0">
                <a:solidFill>
                  <a:schemeClr val="accent1"/>
                </a:solidFill>
                <a:latin typeface="+mn-lt"/>
              </a:rPr>
              <a:t>Lerneffekte bei der </a:t>
            </a:r>
            <a:r>
              <a:rPr lang="de-DE" sz="3200" b="1" dirty="0" err="1">
                <a:solidFill>
                  <a:schemeClr val="accent1"/>
                </a:solidFill>
                <a:latin typeface="+mn-lt"/>
              </a:rPr>
              <a:t>Phishingerkennung</a:t>
            </a:r>
            <a:r>
              <a:rPr lang="de-DE" sz="3200" b="1" dirty="0">
                <a:solidFill>
                  <a:schemeClr val="accent1"/>
                </a:solidFill>
                <a:latin typeface="+mn-lt"/>
              </a:rPr>
              <a:t> in Abhängigkeit von verschiedenen Lehrmethoden</a:t>
            </a:r>
          </a:p>
        </p:txBody>
      </p:sp>
      <p:sp>
        <p:nvSpPr>
          <p:cNvPr id="12" name="Objekt 7" descr="Beiges Rechteck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 flipV="1">
            <a:off x="1799151" y="3990701"/>
            <a:ext cx="5545699" cy="3428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de-DE" sz="18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546D084-43D1-0313-23D7-3E18D64B1D5D}"/>
              </a:ext>
            </a:extLst>
          </p:cNvPr>
          <p:cNvSpPr txBox="1"/>
          <p:nvPr/>
        </p:nvSpPr>
        <p:spPr bwMode="auto">
          <a:xfrm>
            <a:off x="740434" y="2966898"/>
            <a:ext cx="7986982" cy="40011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DE" sz="2000" b="1" dirty="0">
                <a:solidFill>
                  <a:schemeClr val="accent1"/>
                </a:solidFill>
                <a:latin typeface="+mn-lt"/>
              </a:rPr>
              <a:t>Eine methodische Vorbereitung für eine Bachelorarbeit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8D1311E-A3FA-BBD3-D229-64254A485A6F}"/>
              </a:ext>
            </a:extLst>
          </p:cNvPr>
          <p:cNvSpPr txBox="1"/>
          <p:nvPr/>
        </p:nvSpPr>
        <p:spPr bwMode="auto">
          <a:xfrm>
            <a:off x="835684" y="3490993"/>
            <a:ext cx="7986982" cy="40011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DE" sz="2000" b="1" dirty="0">
                <a:solidFill>
                  <a:schemeClr val="accent1"/>
                </a:solidFill>
                <a:latin typeface="+mn-lt"/>
              </a:rPr>
              <a:t>Projekt: Forschungsmethoden</a:t>
            </a:r>
          </a:p>
        </p:txBody>
      </p:sp>
    </p:spTree>
    <p:extLst>
      <p:ext uri="{BB962C8B-B14F-4D97-AF65-F5344CB8AC3E}">
        <p14:creationId xmlns:p14="http://schemas.microsoft.com/office/powerpoint/2010/main" val="407990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B701A09-45CE-42A0-A81D-5DC919EB42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36E11E-05F3-4C87-AF1F-CBCB35A3A50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A5CFB5A-0C23-4EC1-8D94-5428FCAABB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F95CDB48-454B-5263-627C-A01B03986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45" y="1106588"/>
            <a:ext cx="6893799" cy="5164558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de-DE" sz="2400" dirty="0">
                <a:ea typeface="+mn-lt"/>
                <a:cs typeface="+mn-lt"/>
              </a:rPr>
              <a:t>Kontext</a:t>
            </a:r>
            <a:r>
              <a:rPr lang="de-DE" sz="2400" dirty="0">
                <a:solidFill>
                  <a:srgbClr val="00998A"/>
                </a:solidFill>
              </a:rPr>
              <a:t> &amp; Praxisproblem</a:t>
            </a:r>
            <a:endParaRPr lang="de-DE" sz="2400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de-DE" sz="2400" dirty="0">
                <a:ea typeface="+mn-lt"/>
                <a:cs typeface="+mn-lt"/>
              </a:rPr>
              <a:t>Stand</a:t>
            </a:r>
            <a:r>
              <a:rPr lang="de-DE" sz="2400" dirty="0">
                <a:solidFill>
                  <a:srgbClr val="00998A"/>
                </a:solidFill>
                <a:cs typeface="Arial"/>
              </a:rPr>
              <a:t> der Forschung &amp; Forschungslücke</a:t>
            </a:r>
            <a:endParaRPr lang="de-DE" sz="2400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de-DE" sz="2400" dirty="0">
                <a:ea typeface="+mn-lt"/>
                <a:cs typeface="+mn-lt"/>
              </a:rPr>
              <a:t>Zielsetzung</a:t>
            </a:r>
            <a:r>
              <a:rPr lang="de-DE" sz="2400" dirty="0">
                <a:solidFill>
                  <a:srgbClr val="00998A"/>
                </a:solidFill>
                <a:cs typeface="Arial"/>
              </a:rPr>
              <a:t> &amp; Forschungsfragen</a:t>
            </a:r>
            <a:endParaRPr lang="de-DE" sz="2400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de-DE" sz="2400" dirty="0">
                <a:solidFill>
                  <a:srgbClr val="00998A"/>
                </a:solidFill>
                <a:cs typeface="Arial" panose="020B0604020202020204"/>
              </a:rPr>
              <a:t>Forschungsdesign &amp; Methodik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de-DE" sz="2400" dirty="0">
                <a:solidFill>
                  <a:srgbClr val="00998A"/>
                </a:solidFill>
                <a:cs typeface="Arial" panose="020B0604020202020204"/>
              </a:rPr>
              <a:t>Theorie-Praxis-Transfer</a:t>
            </a:r>
            <a:endParaRPr lang="de-DE" sz="2400" dirty="0">
              <a:cs typeface="Arial" panose="020B0604020202020204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de-DE" dirty="0">
              <a:cs typeface="Arial" panose="020B0604020202020204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94910CD-B1F6-554F-02B9-17ACE133B9B1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24D6C491-A4FB-2C07-A2FB-74C79C7D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pPr>
              <a:defRPr/>
            </a:pPr>
            <a:r>
              <a:rPr lang="de-DE" dirty="0"/>
              <a:t>Inhaltsverzeichnis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685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FFD5-BE74-3B9B-8FE7-9EC69274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20DD9A1-E7D2-A59F-E815-EF91BEB37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FD0AE8-C89E-2F23-9EF7-334DABB4D4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1. Kontext &amp; Praxisproblem</a:t>
            </a:r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43B34685-2104-7026-F8C7-C5B1C374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672"/>
            <a:ext cx="9144000" cy="763549"/>
          </a:xfrm>
        </p:spPr>
        <p:txBody>
          <a:bodyPr/>
          <a:lstStyle/>
          <a:p>
            <a:pPr algn="ctr"/>
            <a:r>
              <a:rPr lang="de-DE" sz="4000" dirty="0"/>
              <a:t>1. Kontext &amp; Praxisproblem</a:t>
            </a:r>
            <a:endParaRPr lang="de-DE" dirty="0">
              <a:cs typeface="Arial"/>
            </a:endParaRP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07B73B4-5C30-3232-CF69-F16080E991F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E3FE48A-6E22-FC71-7C48-DF7ECBE573E3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6B93BABB-6328-5658-F040-36C3CB65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pPr>
              <a:defRPr/>
            </a:pPr>
            <a:r>
              <a:rPr lang="de-DE" dirty="0"/>
              <a:t>1. Kontext &amp; Praxisproblem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66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73E32-7BD4-3948-571D-4F7345029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feld 30">
            <a:extLst>
              <a:ext uri="{FF2B5EF4-FFF2-40B4-BE49-F238E27FC236}">
                <a16:creationId xmlns:a16="http://schemas.microsoft.com/office/drawing/2014/main" id="{C8DBC553-FAE7-592F-CEA5-B20341B8C4FE}"/>
              </a:ext>
            </a:extLst>
          </p:cNvPr>
          <p:cNvSpPr txBox="1"/>
          <p:nvPr/>
        </p:nvSpPr>
        <p:spPr bwMode="auto">
          <a:xfrm>
            <a:off x="194705" y="4846344"/>
            <a:ext cx="6659475" cy="132343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de-DE" sz="2000" i="0" dirty="0">
                <a:effectLst/>
                <a:latin typeface="+mj-lt"/>
              </a:rPr>
              <a:t>häufig geringere Bewerbungserfahrung</a:t>
            </a:r>
          </a:p>
          <a:p>
            <a:r>
              <a:rPr lang="de-DE" sz="2000" b="0" i="0" dirty="0">
                <a:effectLst/>
                <a:latin typeface="+mj-lt"/>
              </a:rPr>
              <a:t>     höhere Unsicherheit</a:t>
            </a:r>
          </a:p>
          <a:p>
            <a:r>
              <a:rPr lang="de-DE" sz="2000" b="0" i="0" dirty="0">
                <a:effectLst/>
                <a:latin typeface="+mj-lt"/>
              </a:rPr>
              <a:t>     Wahrnehmungen zu Fairness</a:t>
            </a:r>
            <a:r>
              <a:rPr lang="de-DE" sz="2000" dirty="0">
                <a:latin typeface="+mj-lt"/>
              </a:rPr>
              <a:t> und </a:t>
            </a:r>
            <a:r>
              <a:rPr lang="de-DE" sz="2000" b="0" i="0" dirty="0">
                <a:effectLst/>
                <a:latin typeface="+mj-lt"/>
              </a:rPr>
              <a:t>Transparenz</a:t>
            </a:r>
            <a:br>
              <a:rPr lang="de-DE" sz="2000" b="0" i="0" dirty="0">
                <a:effectLst/>
                <a:latin typeface="+mj-lt"/>
              </a:rPr>
            </a:br>
            <a:r>
              <a:rPr lang="de-DE" sz="2000" b="0" i="0" dirty="0">
                <a:effectLst/>
                <a:latin typeface="+mj-lt"/>
              </a:rPr>
              <a:t>     könnten </a:t>
            </a:r>
            <a:r>
              <a:rPr lang="de-DE" sz="2000" b="1" i="0" dirty="0">
                <a:solidFill>
                  <a:srgbClr val="007368"/>
                </a:solidFill>
                <a:effectLst/>
                <a:latin typeface="+mj-lt"/>
              </a:rPr>
              <a:t>stärker auf Akzeptanz</a:t>
            </a:r>
            <a:r>
              <a:rPr lang="de-DE" sz="2000" b="1" dirty="0">
                <a:solidFill>
                  <a:srgbClr val="007368"/>
                </a:solidFill>
                <a:latin typeface="+mj-lt"/>
              </a:rPr>
              <a:t> </a:t>
            </a:r>
            <a:r>
              <a:rPr lang="de-DE" sz="2000" b="0" i="0" dirty="0">
                <a:effectLst/>
                <a:latin typeface="+mj-lt"/>
              </a:rPr>
              <a:t>wirken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01B9073-1507-7BC9-E414-D8C0D1F7F92E}"/>
              </a:ext>
            </a:extLst>
          </p:cNvPr>
          <p:cNvSpPr/>
          <p:nvPr/>
        </p:nvSpPr>
        <p:spPr>
          <a:xfrm>
            <a:off x="0" y="4290902"/>
            <a:ext cx="5472751" cy="524075"/>
          </a:xfrm>
          <a:prstGeom prst="rect">
            <a:avLst/>
          </a:prstGeom>
          <a:solidFill>
            <a:srgbClr val="00998B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2F3391A-E471-5D23-AB13-47582DEB2E11}"/>
              </a:ext>
            </a:extLst>
          </p:cNvPr>
          <p:cNvSpPr/>
          <p:nvPr/>
        </p:nvSpPr>
        <p:spPr>
          <a:xfrm>
            <a:off x="1163471" y="1335529"/>
            <a:ext cx="6817056" cy="1179872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4258465-7761-0B73-8F4E-B73FF477E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11F9B33-E530-6118-7DF5-2DD0ABC3DA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Kontext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9729269-0B05-7C6A-ABF7-8FE6A2C55306}"/>
              </a:ext>
            </a:extLst>
          </p:cNvPr>
          <p:cNvSpPr txBox="1"/>
          <p:nvPr/>
        </p:nvSpPr>
        <p:spPr bwMode="auto">
          <a:xfrm>
            <a:off x="6291943" y="3325505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8F1212A-2047-00E7-CFD3-5447763F2950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6D3BEADB-85FC-8D96-79CB-CC7FEDFF714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91FE209-2987-25E5-01F7-5984AEB33CEC}"/>
              </a:ext>
            </a:extLst>
          </p:cNvPr>
          <p:cNvSpPr txBox="1"/>
          <p:nvPr/>
        </p:nvSpPr>
        <p:spPr bwMode="auto">
          <a:xfrm>
            <a:off x="1195885" y="1381443"/>
            <a:ext cx="6752228" cy="2616101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de-DE" b="1" i="0" dirty="0">
                <a:solidFill>
                  <a:schemeClr val="bg1"/>
                </a:solidFill>
                <a:effectLst/>
                <a:latin typeface="+mj-lt"/>
              </a:rPr>
              <a:t>Ausbildungsprogramme bei Ford</a:t>
            </a:r>
          </a:p>
          <a:p>
            <a:pPr algn="ctr"/>
            <a:r>
              <a:rPr lang="de-DE" sz="2000" i="0" dirty="0">
                <a:effectLst/>
                <a:latin typeface="+mj-lt"/>
              </a:rPr>
              <a:t>hohe Bewerberzahlen </a:t>
            </a:r>
            <a:r>
              <a:rPr lang="de-DE" sz="2000" b="0" i="0" dirty="0">
                <a:effectLst/>
                <a:latin typeface="+mj-lt"/>
              </a:rPr>
              <a:t>benötigen effiziente, konsistente Vorauswahlprozesse</a:t>
            </a:r>
            <a:endParaRPr lang="de-DE" sz="2000" dirty="0">
              <a:latin typeface="+mj-lt"/>
            </a:endParaRPr>
          </a:p>
          <a:p>
            <a:pPr algn="ctr"/>
            <a:br>
              <a:rPr lang="de-DE" sz="2000" dirty="0">
                <a:latin typeface="+mj-lt"/>
              </a:rPr>
            </a:br>
            <a:endParaRPr lang="de-DE" sz="2000" dirty="0">
              <a:latin typeface="+mj-lt"/>
            </a:endParaRPr>
          </a:p>
          <a:p>
            <a:pPr algn="ctr"/>
            <a:r>
              <a:rPr lang="de-DE" sz="2000" i="0" dirty="0">
                <a:effectLst/>
                <a:latin typeface="+mj-lt"/>
              </a:rPr>
              <a:t>zunehmend Einsatz von</a:t>
            </a:r>
            <a:br>
              <a:rPr lang="de-DE" sz="2000" i="0" dirty="0">
                <a:effectLst/>
                <a:latin typeface="+mj-lt"/>
              </a:rPr>
            </a:br>
            <a:r>
              <a:rPr lang="de-DE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KI- oder Algorithmik-unterstützten Verfahren</a:t>
            </a:r>
            <a:br>
              <a:rPr lang="de-DE" sz="2000" dirty="0">
                <a:latin typeface="+mj-lt"/>
              </a:rPr>
            </a:br>
            <a:r>
              <a:rPr lang="de-DE" sz="2000" i="0" dirty="0">
                <a:effectLst/>
                <a:latin typeface="+mj-lt"/>
              </a:rPr>
              <a:t>(z. B. </a:t>
            </a:r>
            <a:r>
              <a:rPr lang="de-DE" sz="2000" i="0" dirty="0" err="1">
                <a:effectLst/>
                <a:latin typeface="+mj-lt"/>
              </a:rPr>
              <a:t>Matching</a:t>
            </a:r>
            <a:r>
              <a:rPr lang="de-DE" sz="2000" dirty="0">
                <a:latin typeface="+mj-lt"/>
              </a:rPr>
              <a:t>, </a:t>
            </a:r>
            <a:r>
              <a:rPr lang="de-DE" sz="2000" i="0" dirty="0">
                <a:effectLst/>
                <a:latin typeface="+mj-lt"/>
              </a:rPr>
              <a:t>Scoring</a:t>
            </a:r>
            <a:r>
              <a:rPr lang="de-DE" sz="2000" dirty="0">
                <a:latin typeface="+mj-lt"/>
              </a:rPr>
              <a:t>, </a:t>
            </a:r>
            <a:r>
              <a:rPr lang="de-DE" sz="2000" i="0" dirty="0">
                <a:effectLst/>
                <a:latin typeface="+mj-lt"/>
              </a:rPr>
              <a:t>Ranking…)</a:t>
            </a:r>
          </a:p>
        </p:txBody>
      </p:sp>
      <p:pic>
        <p:nvPicPr>
          <p:cNvPr id="11" name="Grafik 10" descr="Wiedergabe mit einfarbiger Füllung">
            <a:extLst>
              <a:ext uri="{FF2B5EF4-FFF2-40B4-BE49-F238E27FC236}">
                <a16:creationId xmlns:a16="http://schemas.microsoft.com/office/drawing/2014/main" id="{DA64B745-6A5F-17E1-9D7C-05CC4440E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292404" y="2515401"/>
            <a:ext cx="559191" cy="559191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2A19AFC3-D873-E9B2-CA72-9BC4696B396C}"/>
              </a:ext>
            </a:extLst>
          </p:cNvPr>
          <p:cNvSpPr txBox="1"/>
          <p:nvPr/>
        </p:nvSpPr>
        <p:spPr bwMode="auto">
          <a:xfrm>
            <a:off x="194706" y="4322269"/>
            <a:ext cx="5134745" cy="461665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de-DE" b="1" i="0" dirty="0">
                <a:solidFill>
                  <a:schemeClr val="bg1"/>
                </a:solidFill>
                <a:effectLst/>
                <a:latin typeface="+mj-lt"/>
              </a:rPr>
              <a:t>Spezifik Ausbildungsbewerbende:</a:t>
            </a:r>
            <a:endParaRPr lang="de-DE" sz="2000" b="0" i="0" dirty="0">
              <a:effectLst/>
              <a:latin typeface="+mj-lt"/>
            </a:endParaRPr>
          </a:p>
        </p:txBody>
      </p:sp>
      <p:pic>
        <p:nvPicPr>
          <p:cNvPr id="25" name="Grafik 24" descr="Wiedergabe mit einfarbiger Füllung">
            <a:extLst>
              <a:ext uri="{FF2B5EF4-FFF2-40B4-BE49-F238E27FC236}">
                <a16:creationId xmlns:a16="http://schemas.microsoft.com/office/drawing/2014/main" id="{F835AC62-FB30-00CC-69DD-A1997CDBF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938" y="5498032"/>
            <a:ext cx="299505" cy="299505"/>
          </a:xfrm>
          <a:prstGeom prst="rect">
            <a:avLst/>
          </a:prstGeom>
        </p:spPr>
      </p:pic>
      <p:pic>
        <p:nvPicPr>
          <p:cNvPr id="29" name="Grafik 28" descr="Wiedergabe mit einfarbiger Füllung">
            <a:extLst>
              <a:ext uri="{FF2B5EF4-FFF2-40B4-BE49-F238E27FC236}">
                <a16:creationId xmlns:a16="http://schemas.microsoft.com/office/drawing/2014/main" id="{DB113F96-7F51-E780-8C24-BD1C9B9EB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938" y="5209971"/>
            <a:ext cx="299505" cy="299505"/>
          </a:xfrm>
          <a:prstGeom prst="rect">
            <a:avLst/>
          </a:prstGeom>
        </p:spPr>
      </p:pic>
      <p:sp>
        <p:nvSpPr>
          <p:cNvPr id="32" name="Fußzeilenplatzhalter 2">
            <a:extLst>
              <a:ext uri="{FF2B5EF4-FFF2-40B4-BE49-F238E27FC236}">
                <a16:creationId xmlns:a16="http://schemas.microsoft.com/office/drawing/2014/main" id="{F55FE5C2-ADEE-4C12-BA4E-1AF3E2D3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pPr>
              <a:defRPr/>
            </a:pPr>
            <a:r>
              <a:rPr lang="de-DE" dirty="0"/>
              <a:t>1. Kontext &amp; Praxisproblem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453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EDB3A-E25E-F872-9916-B6D87F64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C6AC7A6-C267-301F-D324-BEC9E443F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11A76DC-DECE-C3C3-FCF5-C5F5F4BE88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Praxisproblem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9B3ACA1-83B9-CA5B-A5FE-B25F3BE3ED9D}"/>
              </a:ext>
            </a:extLst>
          </p:cNvPr>
          <p:cNvSpPr txBox="1"/>
          <p:nvPr/>
        </p:nvSpPr>
        <p:spPr bwMode="auto">
          <a:xfrm>
            <a:off x="6291943" y="2895600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5C630AD-072F-226E-EF91-D66C634FEB90}"/>
              </a:ext>
            </a:extLst>
          </p:cNvPr>
          <p:cNvGrpSpPr/>
          <p:nvPr/>
        </p:nvGrpSpPr>
        <p:grpSpPr>
          <a:xfrm>
            <a:off x="597638" y="1839287"/>
            <a:ext cx="7943648" cy="1587479"/>
            <a:chOff x="461316" y="1902204"/>
            <a:chExt cx="7943648" cy="1587479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C4FB8C9-05CA-6705-3D72-F847CE07BC82}"/>
                </a:ext>
              </a:extLst>
            </p:cNvPr>
            <p:cNvSpPr txBox="1"/>
            <p:nvPr/>
          </p:nvSpPr>
          <p:spPr bwMode="auto">
            <a:xfrm>
              <a:off x="1011678" y="1902655"/>
              <a:ext cx="7393286" cy="1587028"/>
            </a:xfrm>
            <a:prstGeom prst="rect">
              <a:avLst/>
            </a:prstGeom>
            <a:noFill/>
            <a:ln w="12700">
              <a:noFill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 err="1">
                  <a:latin typeface="Arial"/>
                  <a:cs typeface="Arial"/>
                </a:rPr>
                <a:t>kann</a:t>
              </a:r>
              <a:r>
                <a:rPr lang="en-US" sz="2000" dirty="0">
                  <a:latin typeface="Arial"/>
                  <a:cs typeface="Arial"/>
                </a:rPr>
                <a:t> </a:t>
              </a:r>
              <a:r>
                <a:rPr lang="en-US" sz="2000" dirty="0" err="1">
                  <a:latin typeface="Arial"/>
                  <a:cs typeface="Arial"/>
                </a:rPr>
                <a:t>Effizienz</a:t>
              </a:r>
              <a:r>
                <a:rPr lang="en-US" sz="2000" dirty="0">
                  <a:latin typeface="Arial"/>
                  <a:cs typeface="Arial"/>
                </a:rPr>
                <a:t> und </a:t>
              </a:r>
              <a:r>
                <a:rPr lang="en-US" sz="2000" dirty="0" err="1">
                  <a:latin typeface="Arial"/>
                  <a:cs typeface="Arial"/>
                </a:rPr>
                <a:t>Standardisierung</a:t>
              </a:r>
              <a:r>
                <a:rPr lang="en-US" sz="2000" dirty="0">
                  <a:latin typeface="Arial"/>
                  <a:cs typeface="Arial"/>
                </a:rPr>
                <a:t> </a:t>
              </a:r>
              <a:r>
                <a:rPr lang="en-US" sz="2000" dirty="0" err="1">
                  <a:latin typeface="Arial"/>
                  <a:cs typeface="Arial"/>
                </a:rPr>
                <a:t>erhöhen</a:t>
              </a:r>
              <a:endParaRPr lang="en-US" sz="2000" dirty="0">
                <a:latin typeface="Arial"/>
                <a:cs typeface="Arial"/>
              </a:endParaRPr>
            </a:p>
            <a:p>
              <a:endParaRPr lang="en-US" sz="2000" dirty="0">
                <a:latin typeface="Arial"/>
                <a:cs typeface="Arial"/>
              </a:endParaRPr>
            </a:p>
            <a:p>
              <a:r>
                <a:rPr lang="en-US" sz="2000" dirty="0" err="1">
                  <a:latin typeface="Arial"/>
                  <a:cs typeface="Arial"/>
                </a:rPr>
                <a:t>Risiko</a:t>
              </a:r>
              <a:r>
                <a:rPr lang="en-US" sz="2000" dirty="0">
                  <a:latin typeface="Arial"/>
                  <a:cs typeface="Arial"/>
                </a:rPr>
                <a:t> von </a:t>
              </a:r>
              <a:r>
                <a:rPr lang="en-US" sz="2000" dirty="0" err="1">
                  <a:latin typeface="Arial"/>
                  <a:cs typeface="Arial"/>
                </a:rPr>
                <a:t>Ablehnung</a:t>
              </a:r>
              <a:r>
                <a:rPr lang="en-US" sz="2000" dirty="0">
                  <a:latin typeface="Arial"/>
                  <a:cs typeface="Arial"/>
                </a:rPr>
                <a:t> </a:t>
              </a:r>
              <a:r>
                <a:rPr lang="en-US" sz="2000" dirty="0" err="1">
                  <a:latin typeface="Arial"/>
                  <a:cs typeface="Arial"/>
                </a:rPr>
                <a:t>durch</a:t>
              </a:r>
              <a:r>
                <a:rPr lang="en-US" sz="2000" dirty="0">
                  <a:latin typeface="Arial"/>
                  <a:cs typeface="Arial"/>
                </a:rPr>
                <a:t> </a:t>
              </a:r>
              <a:r>
                <a:rPr lang="en-US" sz="2000" dirty="0" err="1">
                  <a:latin typeface="Arial"/>
                  <a:cs typeface="Arial"/>
                </a:rPr>
                <a:t>Bewerbende</a:t>
              </a:r>
              <a:r>
                <a:rPr lang="en-US" sz="2000" dirty="0">
                  <a:latin typeface="Arial"/>
                  <a:cs typeface="Arial"/>
                </a:rPr>
                <a:t> </a:t>
              </a:r>
              <a:r>
                <a:rPr lang="en-US" sz="2000" dirty="0" err="1">
                  <a:latin typeface="Arial"/>
                  <a:cs typeface="Arial"/>
                </a:rPr>
                <a:t>bei</a:t>
              </a:r>
              <a:r>
                <a:rPr lang="en-US" sz="2000" dirty="0">
                  <a:latin typeface="Arial"/>
                  <a:cs typeface="Arial"/>
                </a:rPr>
                <a:t> </a:t>
              </a:r>
              <a:r>
                <a:rPr lang="en-US" sz="2000" dirty="0" err="1">
                  <a:latin typeface="Arial"/>
                  <a:cs typeface="Arial"/>
                </a:rPr>
                <a:t>Intransparenz</a:t>
              </a:r>
              <a:r>
                <a:rPr lang="en-US" sz="2000" dirty="0">
                  <a:latin typeface="Arial"/>
                  <a:cs typeface="Arial"/>
                </a:rPr>
                <a:t> </a:t>
              </a:r>
              <a:r>
                <a:rPr lang="en-US" sz="2000" dirty="0" err="1">
                  <a:latin typeface="Arial"/>
                  <a:cs typeface="Arial"/>
                </a:rPr>
                <a:t>oder</a:t>
              </a:r>
              <a:r>
                <a:rPr lang="en-US" sz="2000" dirty="0">
                  <a:latin typeface="Arial"/>
                  <a:cs typeface="Arial"/>
                </a:rPr>
                <a:t> Bias-</a:t>
              </a:r>
              <a:r>
                <a:rPr lang="en-US" sz="2000" dirty="0" err="1">
                  <a:latin typeface="Arial"/>
                  <a:cs typeface="Arial"/>
                </a:rPr>
                <a:t>Vermutung</a:t>
              </a:r>
              <a:endParaRPr lang="en-US" sz="2000" dirty="0">
                <a:latin typeface="Arial"/>
                <a:cs typeface="Arial"/>
              </a:endParaRPr>
            </a:p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23A092"/>
                </a:buClr>
                <a:buSzPct val="80000"/>
                <a:buFont typeface="Wingdings" pitchFamily="2" charset="2"/>
              </a:pPr>
              <a:endParaRPr lang="de-DE" sz="1400" kern="0" dirty="0">
                <a:latin typeface="Arial"/>
                <a:cs typeface="Arial"/>
              </a:endParaRPr>
            </a:p>
          </p:txBody>
        </p:sp>
        <p:pic>
          <p:nvPicPr>
            <p:cNvPr id="15" name="Grafik 14" descr="Daumen hoch-Zeichen mit einfarbiger Füllung">
              <a:extLst>
                <a:ext uri="{FF2B5EF4-FFF2-40B4-BE49-F238E27FC236}">
                  <a16:creationId xmlns:a16="http://schemas.microsoft.com/office/drawing/2014/main" id="{0ED1203B-B143-A75E-AD87-FEC2200E8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248" y="1902204"/>
              <a:ext cx="442520" cy="442520"/>
            </a:xfrm>
            <a:prstGeom prst="rect">
              <a:avLst/>
            </a:prstGeom>
          </p:spPr>
        </p:pic>
        <p:pic>
          <p:nvPicPr>
            <p:cNvPr id="16" name="Grafik 15" descr="Daumen runter mit einfarbiger Füllung">
              <a:extLst>
                <a:ext uri="{FF2B5EF4-FFF2-40B4-BE49-F238E27FC236}">
                  <a16:creationId xmlns:a16="http://schemas.microsoft.com/office/drawing/2014/main" id="{2236CA39-28EE-C1C1-C464-42B6763A4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1316" y="2581377"/>
              <a:ext cx="453007" cy="453008"/>
            </a:xfrm>
            <a:prstGeom prst="rect">
              <a:avLst/>
            </a:prstGeom>
          </p:spPr>
        </p:pic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4C488E16-91D7-25D7-44CD-31652458DE8D}"/>
              </a:ext>
            </a:extLst>
          </p:cNvPr>
          <p:cNvSpPr txBox="1"/>
          <p:nvPr/>
        </p:nvSpPr>
        <p:spPr bwMode="auto">
          <a:xfrm>
            <a:off x="1394670" y="1090570"/>
            <a:ext cx="6197365" cy="811367"/>
          </a:xfrm>
          <a:prstGeom prst="rect">
            <a:avLst/>
          </a:prstGeom>
          <a:noFill/>
          <a:ln w="12700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baseline="0" dirty="0">
                <a:solidFill>
                  <a:schemeClr val="accent1"/>
                </a:solidFill>
                <a:latin typeface="Arial"/>
              </a:rPr>
              <a:t>KI-</a:t>
            </a:r>
            <a:r>
              <a:rPr lang="en-US" b="1" baseline="0" dirty="0" err="1">
                <a:solidFill>
                  <a:schemeClr val="accent1"/>
                </a:solidFill>
                <a:latin typeface="Arial"/>
              </a:rPr>
              <a:t>gestützte</a:t>
            </a:r>
            <a:r>
              <a:rPr lang="en-US" b="1" baseline="0" dirty="0">
                <a:solidFill>
                  <a:schemeClr val="accent1"/>
                </a:solidFill>
                <a:latin typeface="Arial"/>
              </a:rPr>
              <a:t> </a:t>
            </a:r>
            <a:r>
              <a:rPr lang="en-US" b="1" baseline="0" dirty="0" err="1">
                <a:solidFill>
                  <a:schemeClr val="accent1"/>
                </a:solidFill>
                <a:latin typeface="Arial"/>
              </a:rPr>
              <a:t>Auswahl</a:t>
            </a:r>
            <a:r>
              <a:rPr lang="en-US" b="1" dirty="0">
                <a:solidFill>
                  <a:schemeClr val="accent1"/>
                </a:solidFill>
                <a:latin typeface="Arial"/>
              </a:rPr>
              <a:t> von </a:t>
            </a:r>
            <a:r>
              <a:rPr lang="en-US" b="1" dirty="0" err="1">
                <a:solidFill>
                  <a:schemeClr val="accent1"/>
                </a:solidFill>
                <a:latin typeface="Arial"/>
              </a:rPr>
              <a:t>Bewerber</a:t>
            </a:r>
            <a:r>
              <a:rPr lang="en-US" b="1" dirty="0">
                <a:solidFill>
                  <a:schemeClr val="accent1"/>
                </a:solidFill>
                <a:latin typeface="Arial"/>
              </a:rPr>
              <a:t>*</a:t>
            </a:r>
            <a:r>
              <a:rPr lang="en-US" b="1" dirty="0" err="1">
                <a:solidFill>
                  <a:schemeClr val="accent1"/>
                </a:solidFill>
                <a:latin typeface="Arial"/>
              </a:rPr>
              <a:t>innen</a:t>
            </a:r>
            <a:endParaRPr lang="de-DE" b="1" dirty="0">
              <a:solidFill>
                <a:schemeClr val="accent1"/>
              </a:solidFill>
              <a:cs typeface="Arial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lang="de-DE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cs typeface="Arial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1021DD6-3551-4898-C02C-71B5F94A16A1}"/>
              </a:ext>
            </a:extLst>
          </p:cNvPr>
          <p:cNvSpPr txBox="1"/>
          <p:nvPr/>
        </p:nvSpPr>
        <p:spPr bwMode="auto">
          <a:xfrm>
            <a:off x="1153486" y="3544021"/>
            <a:ext cx="7724163" cy="2170137"/>
          </a:xfrm>
          <a:prstGeom prst="rect">
            <a:avLst/>
          </a:prstGeom>
          <a:noFill/>
          <a:ln w="12700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Arial"/>
                <a:cs typeface="Arial"/>
              </a:rPr>
              <a:t>Relevanz</a:t>
            </a:r>
            <a:r>
              <a:rPr lang="en-US" sz="2000" b="1" dirty="0">
                <a:solidFill>
                  <a:schemeClr val="accent1"/>
                </a:solidFill>
                <a:latin typeface="Arial"/>
                <a:cs typeface="Arial"/>
              </a:rPr>
              <a:t> für Ford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cs typeface="Arial"/>
              </a:rPr>
              <a:t>Ausbildungsprogramme</a:t>
            </a:r>
            <a:endParaRPr lang="en-US" sz="2000" b="1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de-DE" sz="2000" i="1" dirty="0"/>
              <a:t>Trotz technisch guter Lösung:</a:t>
            </a:r>
            <a:endParaRPr lang="en-US" sz="2000" i="1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/>
                <a:cs typeface="Arial"/>
              </a:rPr>
              <a:t>Compliance- und </a:t>
            </a:r>
            <a:r>
              <a:rPr lang="en-US" sz="2000" dirty="0" err="1">
                <a:latin typeface="Arial"/>
                <a:cs typeface="Arial"/>
              </a:rPr>
              <a:t>Ethikrisiken</a:t>
            </a:r>
            <a:r>
              <a:rPr lang="en-US" sz="2000" dirty="0">
                <a:latin typeface="Arial"/>
                <a:cs typeface="Arial"/>
              </a:rPr>
              <a:t> (z. B. </a:t>
            </a:r>
            <a:r>
              <a:rPr lang="en-US" sz="2000" dirty="0" err="1">
                <a:latin typeface="Arial"/>
                <a:cs typeface="Arial"/>
              </a:rPr>
              <a:t>Datenschutz</a:t>
            </a:r>
            <a:r>
              <a:rPr lang="en-US" sz="2000" dirty="0">
                <a:latin typeface="Arial"/>
                <a:cs typeface="Arial"/>
              </a:rPr>
              <a:t>, </a:t>
            </a:r>
            <a:r>
              <a:rPr lang="en-US" sz="2000" dirty="0" err="1">
                <a:latin typeface="Arial"/>
                <a:cs typeface="Arial"/>
              </a:rPr>
              <a:t>Diskriminierung</a:t>
            </a:r>
            <a:r>
              <a:rPr lang="en-US" sz="2000" dirty="0">
                <a:latin typeface="Arial"/>
                <a:cs typeface="Arial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/>
                <a:cs typeface="Arial"/>
              </a:rPr>
              <a:t>Candidate Experience und </a:t>
            </a:r>
            <a:r>
              <a:rPr lang="en-US" sz="2000" dirty="0" err="1">
                <a:latin typeface="Arial"/>
                <a:cs typeface="Arial"/>
              </a:rPr>
              <a:t>Arbeitgeberimage</a:t>
            </a:r>
            <a:endParaRPr lang="en-US" sz="200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/>
                <a:cs typeface="Arial"/>
              </a:rPr>
              <a:t>Abbruchquoten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im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Prozess</a:t>
            </a:r>
            <a:endParaRPr lang="en-US" sz="2000" dirty="0">
              <a:latin typeface="Arial"/>
              <a:cs typeface="Arial"/>
            </a:endParaRPr>
          </a:p>
        </p:txBody>
      </p:sp>
      <p:pic>
        <p:nvPicPr>
          <p:cNvPr id="23" name="Grafik 22" descr="Kreis mit Pfeil nach links mit einfarbiger Füllung">
            <a:extLst>
              <a:ext uri="{FF2B5EF4-FFF2-40B4-BE49-F238E27FC236}">
                <a16:creationId xmlns:a16="http://schemas.microsoft.com/office/drawing/2014/main" id="{BE38F103-CE5D-2F13-D7E1-6E39A3EB6D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521342" y="3442698"/>
            <a:ext cx="589327" cy="610299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F783C55D-C752-240C-8B99-F2F3F7056434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EEAD968B-DDBD-1754-36D9-F6D28046968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26" name="Fußzeilenplatzhalter 2">
            <a:extLst>
              <a:ext uri="{FF2B5EF4-FFF2-40B4-BE49-F238E27FC236}">
                <a16:creationId xmlns:a16="http://schemas.microsoft.com/office/drawing/2014/main" id="{55DC37EC-F139-1924-7231-09C18A8C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pPr>
              <a:defRPr/>
            </a:pPr>
            <a:r>
              <a:rPr lang="de-DE" dirty="0"/>
              <a:t>1. Kontext &amp; Praxisproblem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16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58D9-D904-ACAD-DE19-0295F819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A7265619-096F-D488-CB2D-57DF83421F4A}"/>
              </a:ext>
            </a:extLst>
          </p:cNvPr>
          <p:cNvSpPr/>
          <p:nvPr/>
        </p:nvSpPr>
        <p:spPr>
          <a:xfrm>
            <a:off x="654" y="4841076"/>
            <a:ext cx="6020318" cy="1264302"/>
          </a:xfrm>
          <a:prstGeom prst="rect">
            <a:avLst/>
          </a:prstGeom>
          <a:solidFill>
            <a:srgbClr val="00998B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6ACF49B-E735-E94D-B076-D66FD5CB5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0B0952C-422E-5F21-3A3F-CBE660E81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Praxisproblem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AB61B8B-33F3-ED9F-A82B-A9DB5D2E9ADC}"/>
              </a:ext>
            </a:extLst>
          </p:cNvPr>
          <p:cNvSpPr txBox="1"/>
          <p:nvPr/>
        </p:nvSpPr>
        <p:spPr bwMode="auto">
          <a:xfrm>
            <a:off x="6291943" y="2895600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1FDB15AD-3B4B-0820-885B-B3BA143154D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93750C4-CB6B-0064-404E-06D699C117BC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BA7083C-1BE1-76F3-3948-C7A8FA029DE4}"/>
              </a:ext>
            </a:extLst>
          </p:cNvPr>
          <p:cNvGrpSpPr/>
          <p:nvPr/>
        </p:nvGrpSpPr>
        <p:grpSpPr>
          <a:xfrm>
            <a:off x="0" y="665003"/>
            <a:ext cx="4378392" cy="4396858"/>
            <a:chOff x="2080470" y="2007066"/>
            <a:chExt cx="4972574" cy="4993546"/>
          </a:xfrm>
        </p:grpSpPr>
        <p:pic>
          <p:nvPicPr>
            <p:cNvPr id="13" name="Grafik 12" descr="Monitor mit einfarbiger Füllung">
              <a:extLst>
                <a:ext uri="{FF2B5EF4-FFF2-40B4-BE49-F238E27FC236}">
                  <a16:creationId xmlns:a16="http://schemas.microsoft.com/office/drawing/2014/main" id="{6581091A-F03A-CC50-832D-289CB6B05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80470" y="2007066"/>
              <a:ext cx="4972574" cy="4993546"/>
            </a:xfrm>
            <a:prstGeom prst="rect">
              <a:avLst/>
            </a:prstGeom>
          </p:spPr>
        </p:pic>
        <p:pic>
          <p:nvPicPr>
            <p:cNvPr id="12" name="Grafik 11" descr="Ein Bild, das Text, Screenshot, Auto, Fahrzeug enthält.&#10;&#10;KI-generierte Inhalte können fehlerhaft sein.">
              <a:extLst>
                <a:ext uri="{FF2B5EF4-FFF2-40B4-BE49-F238E27FC236}">
                  <a16:creationId xmlns:a16="http://schemas.microsoft.com/office/drawing/2014/main" id="{CEEC7E19-E5D8-75E7-27D0-90B3064A8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342" r="4113" b="-407"/>
            <a:stretch>
              <a:fillRect/>
            </a:stretch>
          </p:blipFill>
          <p:spPr>
            <a:xfrm>
              <a:off x="2684477" y="2907771"/>
              <a:ext cx="3765344" cy="259444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E992D47B-DF65-4E05-3E68-9D9993447F60}"/>
              </a:ext>
            </a:extLst>
          </p:cNvPr>
          <p:cNvSpPr txBox="1"/>
          <p:nvPr/>
        </p:nvSpPr>
        <p:spPr bwMode="auto">
          <a:xfrm>
            <a:off x="4235212" y="1637883"/>
            <a:ext cx="4736874" cy="200054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de-DE" b="1" i="0" dirty="0">
                <a:solidFill>
                  <a:srgbClr val="00998B"/>
                </a:solidFill>
                <a:effectLst/>
                <a:latin typeface="+mj-lt"/>
              </a:rPr>
              <a:t>Problem:</a:t>
            </a:r>
            <a:br>
              <a:rPr lang="de-DE" b="1" i="0" dirty="0">
                <a:solidFill>
                  <a:srgbClr val="00998B"/>
                </a:solidFill>
                <a:effectLst/>
                <a:latin typeface="+mj-lt"/>
              </a:rPr>
            </a:br>
            <a:r>
              <a:rPr lang="de-DE" sz="2000" b="0" i="0" dirty="0">
                <a:solidFill>
                  <a:srgbClr val="374151"/>
                </a:solidFill>
                <a:effectLst/>
                <a:latin typeface="+mj-lt"/>
              </a:rPr>
              <a:t>Bewerbende könnten KI-Auswahl als unfair oder intransparent wahrnehmen</a:t>
            </a:r>
          </a:p>
          <a:p>
            <a:r>
              <a:rPr lang="de-DE" sz="2000" b="1" dirty="0">
                <a:solidFill>
                  <a:srgbClr val="00998B"/>
                </a:solidFill>
                <a:latin typeface="+mj-lt"/>
              </a:rPr>
              <a:t>   →</a:t>
            </a:r>
            <a:r>
              <a:rPr lang="de-DE" sz="2000" dirty="0">
                <a:solidFill>
                  <a:srgbClr val="374151"/>
                </a:solidFill>
                <a:latin typeface="+mj-lt"/>
              </a:rPr>
              <a:t> geringere Akzeptanz</a:t>
            </a:r>
          </a:p>
          <a:p>
            <a:r>
              <a:rPr lang="de-DE" sz="2000" b="1" dirty="0">
                <a:solidFill>
                  <a:srgbClr val="00998B"/>
                </a:solidFill>
                <a:latin typeface="+mj-lt"/>
              </a:rPr>
              <a:t>   → </a:t>
            </a:r>
            <a:r>
              <a:rPr lang="de-DE" sz="2000" b="0" i="0" dirty="0">
                <a:solidFill>
                  <a:srgbClr val="374151"/>
                </a:solidFill>
                <a:effectLst/>
                <a:latin typeface="+mj-lt"/>
              </a:rPr>
              <a:t>Abbruch</a:t>
            </a:r>
          </a:p>
          <a:p>
            <a:r>
              <a:rPr lang="de-DE" sz="2000" b="1" dirty="0">
                <a:solidFill>
                  <a:srgbClr val="00998B"/>
                </a:solidFill>
                <a:latin typeface="+mj-lt"/>
              </a:rPr>
              <a:t>   → </a:t>
            </a:r>
            <a:r>
              <a:rPr lang="de-DE" sz="2000" b="0" i="0" dirty="0">
                <a:solidFill>
                  <a:srgbClr val="374151"/>
                </a:solidFill>
                <a:effectLst/>
                <a:latin typeface="+mj-lt"/>
              </a:rPr>
              <a:t>negative Mundpropaganda</a:t>
            </a:r>
            <a:endParaRPr lang="de-DE" sz="2000" dirty="0">
              <a:solidFill>
                <a:srgbClr val="374151"/>
              </a:solidFill>
              <a:latin typeface="+mj-lt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06CD952-C96C-E71A-D7D3-9E9CE17B26ED}"/>
              </a:ext>
            </a:extLst>
          </p:cNvPr>
          <p:cNvSpPr txBox="1"/>
          <p:nvPr/>
        </p:nvSpPr>
        <p:spPr bwMode="auto">
          <a:xfrm>
            <a:off x="109804" y="4854724"/>
            <a:ext cx="5791594" cy="120032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de-DE" b="1" i="0" dirty="0">
                <a:solidFill>
                  <a:schemeClr val="bg1"/>
                </a:solidFill>
                <a:effectLst/>
                <a:latin typeface="+mj-lt"/>
              </a:rPr>
              <a:t>Forschungsbedarf</a:t>
            </a:r>
            <a:br>
              <a:rPr lang="de-DE" b="1" dirty="0">
                <a:solidFill>
                  <a:schemeClr val="bg1"/>
                </a:solidFill>
                <a:latin typeface="+mj-lt"/>
              </a:rPr>
            </a:br>
            <a:r>
              <a:rPr lang="de-DE" b="0" i="0" dirty="0">
                <a:solidFill>
                  <a:schemeClr val="bg1"/>
                </a:solidFill>
                <a:effectLst/>
                <a:latin typeface="+mj-lt"/>
              </a:rPr>
              <a:t>Welche Faktoren beeinflussen Akzeptanz und Fairnesswahrnehmung?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3DDABEF0-A499-171D-6A43-B4C27B93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pPr>
              <a:defRPr/>
            </a:pPr>
            <a:r>
              <a:rPr lang="de-DE" dirty="0"/>
              <a:t>1. Kontext &amp; Praxisproblem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0316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8375D-2072-9A6D-1F99-AEBB1FB6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B787C8E-9B03-093A-6F8B-58541B74F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4B93D76-95C8-FD86-123E-48B883D22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BCDCA2BE-BFCC-06B7-2BB8-14FAA736F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672"/>
            <a:ext cx="9144000" cy="1326883"/>
          </a:xfrm>
        </p:spPr>
        <p:txBody>
          <a:bodyPr/>
          <a:lstStyle/>
          <a:p>
            <a:pPr algn="ctr"/>
            <a:r>
              <a:rPr lang="de-DE" sz="4000" dirty="0"/>
              <a:t>2. Stand der Forschung &amp; Forschungslücke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584E3A61-A75A-1FC1-99BC-232E6FCA6F3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ECE2EA3-99EB-4D9D-E345-20593CE38203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6EA3B94-CA51-F1EA-D261-623E52D4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</p:spTree>
    <p:extLst>
      <p:ext uri="{BB962C8B-B14F-4D97-AF65-F5344CB8AC3E}">
        <p14:creationId xmlns:p14="http://schemas.microsoft.com/office/powerpoint/2010/main" val="39853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6BB62-AB2F-FEE6-106B-2534E0B4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4B201D1-B0D9-6A2C-0D92-9F3D9095E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3053EF4-B1CA-396D-F845-BB4AFF9D24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C511531A-AB8B-5773-950E-B5679E93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672"/>
            <a:ext cx="9144000" cy="1326883"/>
          </a:xfrm>
        </p:spPr>
        <p:txBody>
          <a:bodyPr/>
          <a:lstStyle/>
          <a:p>
            <a:pPr algn="ctr"/>
            <a:r>
              <a:rPr lang="de-DE" sz="4000" dirty="0"/>
              <a:t>2. Stand der Forschung &amp; Forschungslücke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F9490648-4AA2-BB22-576A-B78B9B72322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55697CD-033F-62D3-01C9-B5A3374BD016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E542FE-CFA6-521F-105E-5FEB087B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</p:spTree>
    <p:extLst>
      <p:ext uri="{BB962C8B-B14F-4D97-AF65-F5344CB8AC3E}">
        <p14:creationId xmlns:p14="http://schemas.microsoft.com/office/powerpoint/2010/main" val="395087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560E-2272-5AC2-5A52-854166A0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CB0789DE-6C76-250F-55A2-26A9C239CA28}"/>
              </a:ext>
            </a:extLst>
          </p:cNvPr>
          <p:cNvSpPr/>
          <p:nvPr/>
        </p:nvSpPr>
        <p:spPr>
          <a:xfrm>
            <a:off x="307076" y="4006506"/>
            <a:ext cx="5117910" cy="1425303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EBF76D2-F4D6-8126-0E91-7F5D412EBC82}"/>
              </a:ext>
            </a:extLst>
          </p:cNvPr>
          <p:cNvSpPr/>
          <p:nvPr/>
        </p:nvSpPr>
        <p:spPr>
          <a:xfrm>
            <a:off x="307075" y="2474298"/>
            <a:ext cx="8222776" cy="1323438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65B7B9-C5A5-2F6E-FDC0-235A09D46E57}"/>
              </a:ext>
            </a:extLst>
          </p:cNvPr>
          <p:cNvSpPr/>
          <p:nvPr/>
        </p:nvSpPr>
        <p:spPr>
          <a:xfrm>
            <a:off x="307075" y="1157540"/>
            <a:ext cx="7895231" cy="1107988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DEC04A-ABB3-9A1D-F3D7-E49760038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536CE7D-5CE0-B3F3-CD81-FC0B7A39D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>
                <a:cs typeface="Arial"/>
              </a:rPr>
              <a:t>Definitionen &amp; Abgrenzung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979CBAF-D5CB-571D-9CEC-62576FC7E352}"/>
              </a:ext>
            </a:extLst>
          </p:cNvPr>
          <p:cNvSpPr txBox="1"/>
          <p:nvPr/>
        </p:nvSpPr>
        <p:spPr bwMode="auto">
          <a:xfrm>
            <a:off x="6291943" y="2895600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3C79D11-DAA6-700B-25C9-1412CDF99A48}"/>
              </a:ext>
            </a:extLst>
          </p:cNvPr>
          <p:cNvSpPr txBox="1"/>
          <p:nvPr/>
        </p:nvSpPr>
        <p:spPr bwMode="auto">
          <a:xfrm>
            <a:off x="375315" y="1213517"/>
            <a:ext cx="7895231" cy="99603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b="1" dirty="0">
                <a:solidFill>
                  <a:schemeClr val="accent1"/>
                </a:solidFill>
                <a:latin typeface="Arial"/>
                <a:cs typeface="Arial"/>
              </a:rPr>
              <a:t>„KI-gestützte Auswahl“ (Arbeitsdefinition):</a:t>
            </a:r>
            <a:br>
              <a:rPr lang="de-DE" sz="2000" b="1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de-DE" sz="2000" dirty="0">
                <a:latin typeface="Arial"/>
                <a:cs typeface="Arial"/>
              </a:rPr>
              <a:t>algorithmische Unterstützung bei der Vorauswahl von Bewerbenden (z.B. </a:t>
            </a:r>
            <a:r>
              <a:rPr lang="de-DE" sz="2000" dirty="0" err="1">
                <a:latin typeface="Arial"/>
                <a:cs typeface="Arial"/>
              </a:rPr>
              <a:t>Matching</a:t>
            </a:r>
            <a:r>
              <a:rPr lang="de-DE" sz="2000" dirty="0">
                <a:latin typeface="Arial"/>
                <a:cs typeface="Arial"/>
              </a:rPr>
              <a:t>, Scoring, Priorisierung)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B532D9DA-731C-B2F0-BC23-46156297D2C0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50A4FD05-21CE-C3A6-C482-994D9A38C98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2FCF1A12-0062-E0C9-0AB0-E9B3A00B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4EF2150-ACA9-5AEB-F5FF-4EEB1CD4DAA7}"/>
              </a:ext>
            </a:extLst>
          </p:cNvPr>
          <p:cNvSpPr txBox="1"/>
          <p:nvPr/>
        </p:nvSpPr>
        <p:spPr bwMode="auto">
          <a:xfrm>
            <a:off x="361664" y="2484847"/>
            <a:ext cx="8291016" cy="132343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accent1"/>
                </a:solidFill>
                <a:latin typeface="Arial"/>
                <a:cs typeface="Arial"/>
              </a:rPr>
              <a:t>Abgrenzung des Untersuchungsfokus:</a:t>
            </a:r>
            <a:br>
              <a:rPr lang="de-DE" sz="2000" b="1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de-DE" sz="2000" dirty="0">
                <a:latin typeface="Arial"/>
                <a:cs typeface="Arial"/>
              </a:rPr>
              <a:t>KI in der Vorauswahl für Ausbildungsprogramme (frühe Prozessphase)</a:t>
            </a:r>
          </a:p>
          <a:p>
            <a:r>
              <a:rPr lang="de-DE" sz="2000" b="1" dirty="0">
                <a:solidFill>
                  <a:schemeClr val="accent1"/>
                </a:solidFill>
                <a:latin typeface="Arial"/>
                <a:cs typeface="Arial"/>
              </a:rPr>
              <a:t>explizit ausgeschlossen:</a:t>
            </a:r>
          </a:p>
          <a:p>
            <a:r>
              <a:rPr lang="de-DE" sz="2000" dirty="0">
                <a:latin typeface="Arial"/>
                <a:cs typeface="Arial"/>
              </a:rPr>
              <a:t>biometrische/emotionserkennende Videoanalyse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B47431B-A7E1-5A8D-AB0C-CE2B0CEFC737}"/>
              </a:ext>
            </a:extLst>
          </p:cNvPr>
          <p:cNvSpPr txBox="1"/>
          <p:nvPr/>
        </p:nvSpPr>
        <p:spPr bwMode="auto">
          <a:xfrm>
            <a:off x="375315" y="4057437"/>
            <a:ext cx="5049671" cy="132343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accent1"/>
                </a:solidFill>
              </a:rPr>
              <a:t>Zentrale Vergleichsdimensionen:</a:t>
            </a:r>
            <a:br>
              <a:rPr lang="de-DE" sz="2000" b="1" dirty="0">
                <a:solidFill>
                  <a:schemeClr val="accent1"/>
                </a:solidFill>
              </a:rPr>
            </a:br>
            <a:r>
              <a:rPr lang="de-DE" sz="2000" dirty="0"/>
              <a:t>(für Interviews als Vignetten)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human-in-</a:t>
            </a:r>
            <a:r>
              <a:rPr lang="de-DE" sz="2000" dirty="0" err="1"/>
              <a:t>the</a:t>
            </a:r>
            <a:r>
              <a:rPr lang="de-DE" sz="2000" dirty="0"/>
              <a:t>-loop vs. vollautomatisiert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transparent/erklärbar vs. intransparent</a:t>
            </a:r>
          </a:p>
        </p:txBody>
      </p:sp>
    </p:spTree>
    <p:extLst>
      <p:ext uri="{BB962C8B-B14F-4D97-AF65-F5344CB8AC3E}">
        <p14:creationId xmlns:p14="http://schemas.microsoft.com/office/powerpoint/2010/main" val="1609416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6295-0354-E64F-FC38-D93408FA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919AA8F6-EADB-4029-FB3A-47424BAD02CC}"/>
              </a:ext>
            </a:extLst>
          </p:cNvPr>
          <p:cNvSpPr/>
          <p:nvPr/>
        </p:nvSpPr>
        <p:spPr>
          <a:xfrm>
            <a:off x="0" y="1811951"/>
            <a:ext cx="9144000" cy="1037171"/>
          </a:xfrm>
          <a:prstGeom prst="rect">
            <a:avLst/>
          </a:prstGeom>
          <a:solidFill>
            <a:srgbClr val="00998B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00AD175-E5A3-7B00-EE3D-D32D15916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13E50B0-CA5C-AA54-3245-4FC20CB76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Stand der Forschung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367EFD6-00A0-397C-C722-D2896A174CB5}"/>
              </a:ext>
            </a:extLst>
          </p:cNvPr>
          <p:cNvSpPr txBox="1"/>
          <p:nvPr/>
        </p:nvSpPr>
        <p:spPr bwMode="auto">
          <a:xfrm>
            <a:off x="6291943" y="2895600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B401E22C-1A6B-6E4C-AFDE-B55FB56F71EF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51E811FA-2554-BEF7-86C8-2E7BA290C6F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D8DD4A3B-BE53-0A28-69BB-AD7EAA73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5CFF60E-3BC7-2EE3-BC00-893818BE946A}"/>
              </a:ext>
            </a:extLst>
          </p:cNvPr>
          <p:cNvSpPr txBox="1"/>
          <p:nvPr/>
        </p:nvSpPr>
        <p:spPr bwMode="auto">
          <a:xfrm>
            <a:off x="266349" y="997983"/>
            <a:ext cx="8611299" cy="70788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lumMod val="75000"/>
                  </a:schemeClr>
                </a:solidFill>
              </a:rPr>
              <a:t>Erkenntnisse zu „Young Talent“ und „Entry-Level </a:t>
            </a:r>
            <a:r>
              <a:rPr lang="de-DE" sz="2000" b="1" dirty="0" err="1">
                <a:solidFill>
                  <a:schemeClr val="accent1">
                    <a:lumMod val="75000"/>
                  </a:schemeClr>
                </a:solidFill>
              </a:rPr>
              <a:t>Applicants</a:t>
            </a:r>
            <a:r>
              <a:rPr lang="de-DE" sz="2000" b="1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br>
              <a:rPr lang="de-DE" sz="2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de-DE" sz="2000" dirty="0">
                <a:solidFill>
                  <a:schemeClr val="accent1">
                    <a:lumMod val="75000"/>
                  </a:schemeClr>
                </a:solidFill>
              </a:rPr>
              <a:t>(Überschneidung mit Zielgruppe der Auszubildenden):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519CCD8-596A-82E8-8868-CDDDC366FBE4}"/>
              </a:ext>
            </a:extLst>
          </p:cNvPr>
          <p:cNvSpPr txBox="1"/>
          <p:nvPr/>
        </p:nvSpPr>
        <p:spPr bwMode="auto">
          <a:xfrm>
            <a:off x="671498" y="3059329"/>
            <a:ext cx="5944901" cy="2343655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b="1" dirty="0"/>
              <a:t>Was trauen junge Bewerber*innen KI zu?</a:t>
            </a:r>
            <a:br>
              <a:rPr lang="de-DE" sz="2000" dirty="0"/>
            </a:br>
            <a:r>
              <a:rPr lang="de-DE" sz="2000" dirty="0"/>
              <a:t>      technische Analysen (z.B. CV-</a:t>
            </a:r>
            <a:r>
              <a:rPr lang="de-DE" sz="2000" dirty="0" err="1"/>
              <a:t>Parsing</a:t>
            </a:r>
            <a:r>
              <a:rPr lang="de-DE" sz="2000" dirty="0"/>
              <a:t>)</a:t>
            </a:r>
          </a:p>
          <a:p>
            <a:pPr>
              <a:lnSpc>
                <a:spcPct val="150000"/>
              </a:lnSpc>
            </a:pPr>
            <a:r>
              <a:rPr lang="de-DE" sz="2000" b="1" dirty="0">
                <a:solidFill>
                  <a:schemeClr val="accent1"/>
                </a:solidFill>
              </a:rPr>
              <a:t>      </a:t>
            </a:r>
            <a:r>
              <a:rPr lang="de-DE" sz="2000" dirty="0"/>
              <a:t>nicht die Bewertung von Soft Skills oder</a:t>
            </a:r>
            <a:br>
              <a:rPr lang="de-DE" sz="2000" dirty="0"/>
            </a:br>
            <a:r>
              <a:rPr lang="de-DE" sz="2000" dirty="0"/>
              <a:t>      Cultural Fit, die für Ausbildungsplätze oft</a:t>
            </a:r>
            <a:br>
              <a:rPr lang="de-DE" sz="2000" dirty="0"/>
            </a:br>
            <a:r>
              <a:rPr lang="de-DE" sz="2000" dirty="0"/>
              <a:t>      entscheidend sind</a:t>
            </a:r>
          </a:p>
        </p:txBody>
      </p:sp>
      <p:pic>
        <p:nvPicPr>
          <p:cNvPr id="30" name="Grafik 29" descr="Marke Kreuz mit einfarbiger Füllung">
            <a:extLst>
              <a:ext uri="{FF2B5EF4-FFF2-40B4-BE49-F238E27FC236}">
                <a16:creationId xmlns:a16="http://schemas.microsoft.com/office/drawing/2014/main" id="{36F99791-B950-F814-2863-572C3E1D8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604" y="4118750"/>
            <a:ext cx="351430" cy="351430"/>
          </a:xfrm>
          <a:prstGeom prst="rect">
            <a:avLst/>
          </a:prstGeom>
        </p:spPr>
      </p:pic>
      <p:pic>
        <p:nvPicPr>
          <p:cNvPr id="32" name="Grafik 31" descr="Abzeichen Tick1 mit einfarbiger Füllung">
            <a:extLst>
              <a:ext uri="{FF2B5EF4-FFF2-40B4-BE49-F238E27FC236}">
                <a16:creationId xmlns:a16="http://schemas.microsoft.com/office/drawing/2014/main" id="{1B513188-CC61-5AB0-F421-BB649FF627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604" y="3641460"/>
            <a:ext cx="351430" cy="351430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10A933D8-36F9-83F1-1F05-790BD3530352}"/>
              </a:ext>
            </a:extLst>
          </p:cNvPr>
          <p:cNvSpPr txBox="1"/>
          <p:nvPr/>
        </p:nvSpPr>
        <p:spPr bwMode="auto">
          <a:xfrm>
            <a:off x="266350" y="1833459"/>
            <a:ext cx="8611299" cy="101566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chemeClr val="bg1"/>
                </a:solidFill>
                <a:effectLst/>
                <a:latin typeface="+mj-lt"/>
              </a:rPr>
              <a:t>Mirowska, A. &amp; </a:t>
            </a:r>
            <a:r>
              <a:rPr lang="en-US" sz="2000" b="0" i="1" dirty="0" err="1">
                <a:solidFill>
                  <a:schemeClr val="bg1"/>
                </a:solidFill>
                <a:effectLst/>
                <a:latin typeface="+mj-lt"/>
              </a:rPr>
              <a:t>Mesnet</a:t>
            </a:r>
            <a:r>
              <a:rPr lang="en-US" sz="2000" b="0" i="1" dirty="0">
                <a:solidFill>
                  <a:schemeClr val="bg1"/>
                </a:solidFill>
                <a:effectLst/>
                <a:latin typeface="+mj-lt"/>
              </a:rPr>
              <a:t>, L. (2022).</a:t>
            </a:r>
            <a:r>
              <a:rPr lang="en-US" sz="2000" b="0" dirty="0">
                <a:solidFill>
                  <a:schemeClr val="bg1"/>
                </a:solidFill>
                <a:effectLst/>
                <a:latin typeface="+mj-lt"/>
              </a:rPr>
              <a:t> Preferring the devil I know: Potential applicant reactions to artificial intelligence evaluation of interviews. Human Resource Management Journal, 32(4), 864–883.</a:t>
            </a:r>
            <a:endParaRPr lang="de-DE" sz="2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90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21B1-06BC-8D93-9ABF-338F56AD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5AAD67A0-133F-6F49-7557-E6F5BAF50E5D}"/>
              </a:ext>
            </a:extLst>
          </p:cNvPr>
          <p:cNvSpPr/>
          <p:nvPr/>
        </p:nvSpPr>
        <p:spPr>
          <a:xfrm>
            <a:off x="0" y="1811951"/>
            <a:ext cx="9144000" cy="1037171"/>
          </a:xfrm>
          <a:prstGeom prst="rect">
            <a:avLst/>
          </a:prstGeom>
          <a:solidFill>
            <a:srgbClr val="00998B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8272DD5-BB48-F317-5CCB-83B163B2E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43F6E48-6292-C931-AB20-94B25FD52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Stand der Forschung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E03E441-3365-AB4B-D0FD-3C747EC48540}"/>
              </a:ext>
            </a:extLst>
          </p:cNvPr>
          <p:cNvSpPr txBox="1"/>
          <p:nvPr/>
        </p:nvSpPr>
        <p:spPr bwMode="auto">
          <a:xfrm>
            <a:off x="6291943" y="2895600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6A63FEC-6F80-844D-07D7-6AFC0131C09E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F6F727BE-E493-76EA-146E-228AF5A0DDD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90455713-0D93-D686-6C72-A5DD7EF3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1C441F6-7248-0171-78CF-B04B1E55802E}"/>
              </a:ext>
            </a:extLst>
          </p:cNvPr>
          <p:cNvSpPr txBox="1"/>
          <p:nvPr/>
        </p:nvSpPr>
        <p:spPr bwMode="auto">
          <a:xfrm>
            <a:off x="266349" y="997983"/>
            <a:ext cx="8611299" cy="70788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lumMod val="75000"/>
                  </a:schemeClr>
                </a:solidFill>
              </a:rPr>
              <a:t>Erkenntnisse zu „Young Talent“ und „Entry-Level </a:t>
            </a:r>
            <a:r>
              <a:rPr lang="de-DE" sz="2000" b="1" dirty="0" err="1">
                <a:solidFill>
                  <a:schemeClr val="accent1">
                    <a:lumMod val="75000"/>
                  </a:schemeClr>
                </a:solidFill>
              </a:rPr>
              <a:t>Applicants</a:t>
            </a:r>
            <a:r>
              <a:rPr lang="de-DE" sz="2000" b="1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br>
              <a:rPr lang="de-DE" sz="2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de-DE" sz="2000" dirty="0">
                <a:solidFill>
                  <a:schemeClr val="accent1">
                    <a:lumMod val="75000"/>
                  </a:schemeClr>
                </a:solidFill>
              </a:rPr>
              <a:t>(Überschneidung mit Zielgruppe der Auszubildenden):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1DC985D-FC03-F04B-E78C-5413A7CC15D0}"/>
              </a:ext>
            </a:extLst>
          </p:cNvPr>
          <p:cNvSpPr txBox="1"/>
          <p:nvPr/>
        </p:nvSpPr>
        <p:spPr bwMode="auto">
          <a:xfrm>
            <a:off x="266349" y="3113921"/>
            <a:ext cx="8611299" cy="40011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de-DE" sz="2000" b="1" dirty="0"/>
              <a:t>„</a:t>
            </a:r>
            <a:r>
              <a:rPr lang="de-DE" sz="2000" b="1" dirty="0" err="1"/>
              <a:t>Opportunity</a:t>
            </a:r>
            <a:r>
              <a:rPr lang="de-DE" sz="2000" b="1" dirty="0"/>
              <a:t> </a:t>
            </a:r>
            <a:r>
              <a:rPr lang="de-DE" sz="2000" b="1" dirty="0" err="1"/>
              <a:t>to</a:t>
            </a:r>
            <a:r>
              <a:rPr lang="de-DE" sz="2000" b="1" dirty="0"/>
              <a:t> Perform“ als wichtigster Treiber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6BF7B09-E39B-D2B2-1637-A68BE318F065}"/>
              </a:ext>
            </a:extLst>
          </p:cNvPr>
          <p:cNvSpPr txBox="1"/>
          <p:nvPr/>
        </p:nvSpPr>
        <p:spPr bwMode="auto">
          <a:xfrm>
            <a:off x="266350" y="1833459"/>
            <a:ext cx="8611299" cy="101566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b="0" i="1" dirty="0" err="1">
                <a:solidFill>
                  <a:schemeClr val="bg1"/>
                </a:solidFill>
                <a:effectLst/>
                <a:latin typeface="+mj-lt"/>
              </a:rPr>
              <a:t>Köchling</a:t>
            </a:r>
            <a:r>
              <a:rPr lang="en-US" sz="2000" b="0" i="1" dirty="0">
                <a:solidFill>
                  <a:schemeClr val="bg1"/>
                </a:solidFill>
                <a:effectLst/>
                <a:latin typeface="+mj-lt"/>
              </a:rPr>
              <a:t>, A., Wehner, M. C., &amp; </a:t>
            </a:r>
            <a:r>
              <a:rPr lang="en-US" sz="2000" b="0" i="1" dirty="0" err="1">
                <a:solidFill>
                  <a:schemeClr val="bg1"/>
                </a:solidFill>
                <a:effectLst/>
                <a:latin typeface="+mj-lt"/>
              </a:rPr>
              <a:t>Warkocz</a:t>
            </a:r>
            <a:r>
              <a:rPr lang="en-US" sz="2000" b="0" i="1" dirty="0">
                <a:solidFill>
                  <a:schemeClr val="bg1"/>
                </a:solidFill>
                <a:effectLst/>
                <a:latin typeface="+mj-lt"/>
              </a:rPr>
              <a:t>, J. </a:t>
            </a:r>
            <a:r>
              <a:rPr lang="en-US" sz="2000" dirty="0">
                <a:solidFill>
                  <a:schemeClr val="bg1"/>
                </a:solidFill>
                <a:effectLst/>
                <a:latin typeface="+mj-lt"/>
              </a:rPr>
              <a:t>(2023). Can I show my skills? Affective responses to artificial intelligence in the recruitment process. Review of Managerial Science, 17, 2109–2138</a:t>
            </a:r>
            <a:endParaRPr lang="de-DE" sz="2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Grafik 6" descr="Kreis mit Pfeil nach links mit einfarbiger Füllung">
            <a:extLst>
              <a:ext uri="{FF2B5EF4-FFF2-40B4-BE49-F238E27FC236}">
                <a16:creationId xmlns:a16="http://schemas.microsoft.com/office/drawing/2014/main" id="{DAF75E63-B534-5E9E-4C7D-2EC2D1579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43858" y="3590483"/>
            <a:ext cx="312947" cy="324084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88D341AF-82B5-2461-43C9-907C7C53536E}"/>
              </a:ext>
            </a:extLst>
          </p:cNvPr>
          <p:cNvSpPr txBox="1"/>
          <p:nvPr/>
        </p:nvSpPr>
        <p:spPr bwMode="auto">
          <a:xfrm>
            <a:off x="811786" y="3552065"/>
            <a:ext cx="6271405" cy="163121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de-DE" sz="2000" dirty="0"/>
              <a:t>KI-gestützte Videointerviews oft als </a:t>
            </a:r>
            <a:r>
              <a:rPr lang="de-DE" sz="2000" b="1" dirty="0">
                <a:solidFill>
                  <a:srgbClr val="00998B"/>
                </a:solidFill>
              </a:rPr>
              <a:t>unfair</a:t>
            </a:r>
            <a:r>
              <a:rPr lang="de-DE" sz="2000" dirty="0"/>
              <a:t> empfunden</a:t>
            </a:r>
          </a:p>
          <a:p>
            <a:r>
              <a:rPr lang="de-DE" sz="2000" b="1" dirty="0">
                <a:solidFill>
                  <a:srgbClr val="00998B"/>
                </a:solidFill>
              </a:rPr>
              <a:t>Verunsicherung</a:t>
            </a:r>
            <a:r>
              <a:rPr lang="de-DE" sz="2000" dirty="0"/>
              <a:t> durch fehlendes direktes Feedback (Nicken, Lächeln eines </a:t>
            </a:r>
            <a:r>
              <a:rPr lang="de-DE" sz="2000" dirty="0" err="1"/>
              <a:t>Recruiters</a:t>
            </a:r>
            <a:r>
              <a:rPr lang="de-DE" sz="2000" dirty="0"/>
              <a:t>)</a:t>
            </a:r>
          </a:p>
          <a:p>
            <a:r>
              <a:rPr lang="de-DE" sz="2000" dirty="0"/>
              <a:t>Gefühl, ihre </a:t>
            </a:r>
            <a:r>
              <a:rPr lang="de-DE" sz="2000" b="1" dirty="0">
                <a:solidFill>
                  <a:srgbClr val="00998B"/>
                </a:solidFill>
              </a:rPr>
              <a:t>Persönlichkeit nicht transportieren </a:t>
            </a:r>
            <a:r>
              <a:rPr lang="de-DE" sz="2000" dirty="0"/>
              <a:t>zu können</a:t>
            </a:r>
          </a:p>
        </p:txBody>
      </p:sp>
      <p:pic>
        <p:nvPicPr>
          <p:cNvPr id="14" name="Grafik 13" descr="Kreis mit Pfeil nach links mit einfarbiger Füllung">
            <a:extLst>
              <a:ext uri="{FF2B5EF4-FFF2-40B4-BE49-F238E27FC236}">
                <a16:creationId xmlns:a16="http://schemas.microsoft.com/office/drawing/2014/main" id="{ED4E54D7-446F-989D-87A8-D8284CBF8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42701" y="3895117"/>
            <a:ext cx="312947" cy="324084"/>
          </a:xfrm>
          <a:prstGeom prst="rect">
            <a:avLst/>
          </a:prstGeom>
        </p:spPr>
      </p:pic>
      <p:pic>
        <p:nvPicPr>
          <p:cNvPr id="15" name="Grafik 14" descr="Kreis mit Pfeil nach links mit einfarbiger Füllung">
            <a:extLst>
              <a:ext uri="{FF2B5EF4-FFF2-40B4-BE49-F238E27FC236}">
                <a16:creationId xmlns:a16="http://schemas.microsoft.com/office/drawing/2014/main" id="{FBD0135A-5938-67F1-CC3C-3C773B66B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42701" y="4500699"/>
            <a:ext cx="312947" cy="32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00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423D7-05E7-B5EE-DADB-AE393D84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5BF4BB-9BF2-9B7B-94BA-0270BCA37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8A3BA59-789B-C46A-1241-9226F8139F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Forschungslücke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70D4A47-CE28-58CA-63B4-F35BFCCA09DB}"/>
              </a:ext>
            </a:extLst>
          </p:cNvPr>
          <p:cNvSpPr txBox="1"/>
          <p:nvPr/>
        </p:nvSpPr>
        <p:spPr bwMode="auto">
          <a:xfrm>
            <a:off x="6291943" y="2895600"/>
            <a:ext cx="0" cy="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tabLst/>
            </a:pPr>
            <a:endParaRPr kumimoji="0" lang="de-DE" sz="1400" b="0" i="0" u="none" strike="noStrike" kern="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C24771A-B4AD-4A24-DE16-DC0A07569D65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3E14C787-ED86-083C-52B5-42EFD613D28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1B0D3015-8637-4A77-8200-9A3716EE5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77A402B-B181-DB24-77AC-2EE1C022B912}"/>
              </a:ext>
            </a:extLst>
          </p:cNvPr>
          <p:cNvSpPr txBox="1"/>
          <p:nvPr/>
        </p:nvSpPr>
        <p:spPr bwMode="auto">
          <a:xfrm>
            <a:off x="266351" y="1015075"/>
            <a:ext cx="8611298" cy="378565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de-DE" sz="2000" dirty="0"/>
              <a:t>Viele Studien betrachten Bewerbende allgemein, aber weniger spezifisch Ausbildungsbewerbende (Erfahrung, Alter, Informationsstand) Da es kaum Studien gibt, die ausschließlich Auszubildende untersuchen, wird hier auf Erkenntnisse zu „Young Talent“ / „Entry-Level </a:t>
            </a:r>
            <a:r>
              <a:rPr lang="de-DE" sz="2000" dirty="0" err="1"/>
              <a:t>Applicants</a:t>
            </a:r>
            <a:r>
              <a:rPr lang="de-DE" sz="2000" dirty="0"/>
              <a:t>“ (Generation Z) zurückgegriffen, da diese deckungsgleich mit der Zielgruppe der Auszubildenden sind.</a:t>
            </a:r>
          </a:p>
          <a:p>
            <a:endParaRPr lang="de-DE" sz="2000" dirty="0"/>
          </a:p>
          <a:p>
            <a:r>
              <a:rPr lang="de-DE" sz="2000" dirty="0"/>
              <a:t>Häufig quantitative Messung → weniger Tiefe, warum etwas als unfair empfunden wird</a:t>
            </a:r>
          </a:p>
          <a:p>
            <a:r>
              <a:rPr lang="de-DE" sz="2000" dirty="0"/>
              <a:t>Praxislücke: Welche konkreten Gestaltungs- und Kommunikationsmaßnahmen erhöhen Fairnesswahrnehmung im realen Bewerbungsprozess?</a:t>
            </a:r>
          </a:p>
        </p:txBody>
      </p:sp>
    </p:spTree>
    <p:extLst>
      <p:ext uri="{BB962C8B-B14F-4D97-AF65-F5344CB8AC3E}">
        <p14:creationId xmlns:p14="http://schemas.microsoft.com/office/powerpoint/2010/main" val="342983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5B25C-6734-6814-F440-5C606132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A9B7B71-8A98-B384-C136-EDCEABBED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578570-FAE4-3D3E-793C-2542A6C8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Quellenangaben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848428-EF5B-40E9-3E3C-C407247FB0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>
                <a:cs typeface="Arial"/>
              </a:rPr>
              <a:t>Quellenangaben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CFF11EE-AD89-EE46-B196-56E9F4AB06FA}"/>
              </a:ext>
            </a:extLst>
          </p:cNvPr>
          <p:cNvSpPr txBox="1"/>
          <p:nvPr/>
        </p:nvSpPr>
        <p:spPr bwMode="auto">
          <a:xfrm>
            <a:off x="95534" y="858883"/>
            <a:ext cx="8932460" cy="353943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600" b="0" i="1" dirty="0">
                <a:effectLst/>
                <a:latin typeface="+mj-lt"/>
              </a:rPr>
              <a:t>Gilliland, S. W. (1993). </a:t>
            </a:r>
            <a:r>
              <a:rPr lang="en-US" sz="1600" b="0" dirty="0">
                <a:effectLst/>
                <a:latin typeface="+mj-lt"/>
              </a:rPr>
              <a:t>The perceived fairness of selection systems: An organizational justice perspective. Academy of Management Review, 18(4), 694–734.</a:t>
            </a:r>
          </a:p>
          <a:p>
            <a:endParaRPr lang="en-US" sz="1600" i="1" dirty="0">
              <a:latin typeface="+mj-lt"/>
            </a:endParaRPr>
          </a:p>
          <a:p>
            <a:r>
              <a:rPr lang="en-US" sz="1600" i="1" dirty="0">
                <a:latin typeface="+mj-lt"/>
              </a:rPr>
              <a:t>Bauer, T. N., Truxillo, D. M., Tucker, J. S., Weathers, V., Bertolino, M., Erdogan, B., &amp; Campion</a:t>
            </a:r>
            <a:r>
              <a:rPr lang="en-US" sz="1600" dirty="0">
                <a:latin typeface="+mj-lt"/>
              </a:rPr>
              <a:t>, M. A. (2006). Selection in the information age: The impact of privacy concerns and computer experience on applicant reactions. Journal of Management, 32(5), 601–621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i="1" dirty="0">
                <a:latin typeface="+mj-lt"/>
              </a:rPr>
              <a:t>Mirowska, A. &amp; </a:t>
            </a:r>
            <a:r>
              <a:rPr lang="en-US" sz="1600" i="1" dirty="0" err="1">
                <a:latin typeface="+mj-lt"/>
              </a:rPr>
              <a:t>Mesnet</a:t>
            </a:r>
            <a:r>
              <a:rPr lang="en-US" sz="1600" i="1" dirty="0">
                <a:latin typeface="+mj-lt"/>
              </a:rPr>
              <a:t>, L. (2022).</a:t>
            </a:r>
            <a:r>
              <a:rPr lang="en-US" sz="1600" dirty="0">
                <a:latin typeface="+mj-lt"/>
              </a:rPr>
              <a:t> Preferring the devil I know: Potential applicant reactions to artificial intelligence evaluation of interviews. Human Resource Management Journal, 32(4), 864–883.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i="1" dirty="0" err="1">
                <a:latin typeface="+mj-lt"/>
              </a:rPr>
              <a:t>Köchling</a:t>
            </a:r>
            <a:r>
              <a:rPr lang="en-US" sz="1600" i="1" dirty="0">
                <a:latin typeface="+mj-lt"/>
              </a:rPr>
              <a:t>, A., Wehner, M. C., &amp; </a:t>
            </a:r>
            <a:r>
              <a:rPr lang="en-US" sz="1600" i="1" dirty="0" err="1">
                <a:latin typeface="+mj-lt"/>
              </a:rPr>
              <a:t>Warkocz</a:t>
            </a:r>
            <a:r>
              <a:rPr lang="en-US" sz="1600" i="1" dirty="0">
                <a:latin typeface="+mj-lt"/>
              </a:rPr>
              <a:t>, J. (2023). </a:t>
            </a:r>
            <a:r>
              <a:rPr lang="en-US" sz="1600" dirty="0">
                <a:latin typeface="+mj-lt"/>
              </a:rPr>
              <a:t>Can I show my skills? Affective responses to artificial intelligence in the recruitment process. Review of Managerial Science, 17, 2109–2138. (Das </a:t>
            </a:r>
            <a:r>
              <a:rPr lang="en-US" sz="1600" dirty="0" err="1">
                <a:latin typeface="+mj-lt"/>
              </a:rPr>
              <a:t>ist</a:t>
            </a:r>
            <a:r>
              <a:rPr lang="en-US" sz="1600" dirty="0">
                <a:latin typeface="+mj-lt"/>
              </a:rPr>
              <a:t> die Studie </a:t>
            </a:r>
            <a:r>
              <a:rPr lang="en-US" sz="1600" dirty="0" err="1">
                <a:latin typeface="+mj-lt"/>
              </a:rPr>
              <a:t>aus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Ihrer</a:t>
            </a:r>
            <a:r>
              <a:rPr lang="en-US" sz="1600" dirty="0">
                <a:latin typeface="+mj-lt"/>
              </a:rPr>
              <a:t> Date</a:t>
            </a:r>
            <a:endParaRPr lang="de-DE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95175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23978-7275-9B5B-6B68-BB9B1660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CECE7C5-C035-CA49-13C7-A3B64D244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2D3E27E-3BDF-EAD1-D102-711BF74784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B00C6509-AD7A-2142-3A59-9569FAB79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672"/>
            <a:ext cx="9144000" cy="1326883"/>
          </a:xfrm>
        </p:spPr>
        <p:txBody>
          <a:bodyPr/>
          <a:lstStyle/>
          <a:p>
            <a:pPr algn="ctr"/>
            <a:r>
              <a:rPr lang="de-DE" sz="4000" dirty="0"/>
              <a:t>2. Stand der Forschung &amp; Forschungslücke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6513486-D7DC-D303-D3F0-AC96C9E4F4E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3379" y="6575265"/>
            <a:ext cx="1524000" cy="283234"/>
          </a:xfrm>
        </p:spPr>
        <p:txBody>
          <a:bodyPr/>
          <a:lstStyle/>
          <a:p>
            <a:pPr>
              <a:defRPr/>
            </a:pPr>
            <a:fld id="{9338910D-6BF9-4DAD-BD39-5E8F1176E68E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A1276EB-A381-ACE0-680C-3F41AE2CD7AA}"/>
              </a:ext>
            </a:extLst>
          </p:cNvPr>
          <p:cNvSpPr/>
          <p:nvPr/>
        </p:nvSpPr>
        <p:spPr>
          <a:xfrm>
            <a:off x="6854181" y="4442346"/>
            <a:ext cx="2023468" cy="20234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err="1">
              <a:solidFill>
                <a:schemeClr val="tx1"/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2615AE-357F-4F9F-ACA8-41AE9DAA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/>
          <a:lstStyle/>
          <a:p>
            <a:r>
              <a:rPr lang="de-DE" dirty="0"/>
              <a:t>2. Stand der Forschung &amp; Forschungslücke</a:t>
            </a:r>
          </a:p>
        </p:txBody>
      </p:sp>
    </p:spTree>
    <p:extLst>
      <p:ext uri="{BB962C8B-B14F-4D97-AF65-F5344CB8AC3E}">
        <p14:creationId xmlns:p14="http://schemas.microsoft.com/office/powerpoint/2010/main" val="42579773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PPT-Vorlage_der_FOM_20140109">
  <a:themeElements>
    <a:clrScheme name="FOM">
      <a:dk1>
        <a:srgbClr val="262626"/>
      </a:dk1>
      <a:lt1>
        <a:sysClr val="window" lastClr="FFFFFF"/>
      </a:lt1>
      <a:dk2>
        <a:srgbClr val="717D87"/>
      </a:dk2>
      <a:lt2>
        <a:srgbClr val="DBDEE1"/>
      </a:lt2>
      <a:accent1>
        <a:srgbClr val="00998A"/>
      </a:accent1>
      <a:accent2>
        <a:srgbClr val="BFE5E2"/>
      </a:accent2>
      <a:accent3>
        <a:srgbClr val="A10010"/>
      </a:accent3>
      <a:accent4>
        <a:srgbClr val="E7C2C3"/>
      </a:accent4>
      <a:accent5>
        <a:srgbClr val="004A94"/>
      </a:accent5>
      <a:accent6>
        <a:srgbClr val="BFD1E4"/>
      </a:accent6>
      <a:hlink>
        <a:srgbClr val="00998A"/>
      </a:hlink>
      <a:folHlink>
        <a:srgbClr val="00998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2700">
          <a:noFill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  <a:noAutofit/>
      </a:bodyPr>
      <a:lstStyle>
        <a:defPPr marL="0" marR="0" indent="0" defTabSz="914400" rtl="0" eaLnBrk="1" fontAlgn="base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rgbClr val="23A092"/>
          </a:buClr>
          <a:buSzPct val="80000"/>
          <a:buFont typeface="Wingdings" pitchFamily="2" charset="2"/>
          <a:buNone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</a:defRPr>
        </a:defPPr>
      </a:lstStyle>
    </a:txDef>
  </a:objectDefaults>
  <a:extraClrSchemeLst>
    <a:extraClrScheme>
      <a:clrScheme name="Larissa-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5CC4F322-7EF6-4171-A8E5-227CE26FCA74}" vid="{B212139E-35CA-4734-9A91-773821B6CAE0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990bb7a-51f4-439b-bd36-9c07fb1041c0}" enabled="0" method="" siteId="{c990bb7a-51f4-439b-bd36-9c07fb1041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PPT-Vorlage_der_FOM_Stand-Juni2016</Template>
  <TotalTime>0</TotalTime>
  <Words>882</Words>
  <Application>Microsoft Office PowerPoint</Application>
  <PresentationFormat>Bildschirmpräsentation (4:3)</PresentationFormat>
  <Paragraphs>128</Paragraphs>
  <Slides>14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PPT-Vorlage_der_FOM_20140109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BCW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Hansen, Tabea;John, Dennis</dc:creator>
  <cp:lastModifiedBy>Mooren, Leonard (L.)</cp:lastModifiedBy>
  <cp:revision>10</cp:revision>
  <cp:lastPrinted>2013-02-22T13:48:11Z</cp:lastPrinted>
  <dcterms:created xsi:type="dcterms:W3CDTF">2017-12-20T07:40:53Z</dcterms:created>
  <dcterms:modified xsi:type="dcterms:W3CDTF">2026-01-12T18:19:45Z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2021-06-07T20:14:26Z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3b594615-3cdc-44f2-9933-0000150c3d34</vt:lpwstr>
  </property>
  <property fmtid="{D5CDD505-2E9C-101B-9397-08002B2CF9AE}" pid="8" name="MSIP_Label_0359f705-2ba0-454b-9cfc-6ce5bcaac040_ContentBits">
    <vt:lpwstr>2</vt:lpwstr>
  </property>
</Properties>
</file>